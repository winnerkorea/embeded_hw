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cb46d6bc0d4435" /><Relationship Type="http://schemas.openxmlformats.org/officeDocument/2006/relationships/extended-properties" Target="/docProps/app.xml" Id="Rdde95ce79afa4cd5" /><Relationship Type="http://schemas.openxmlformats.org/officeDocument/2006/relationships/officeDocument" Target="/ppt/presentation.xml" Id="R99b0aa92584147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033f1bad334f8f"/>
  </p:sldMasterIdLst>
  <p:notesMasterIdLst>
    <p:notesMasterId xmlns:r="http://schemas.openxmlformats.org/officeDocument/2006/relationships" r:id="R09c27c6934e44fb1"/>
  </p:notesMasterIdLst>
  <p:sldIdLst>
    <p:sldId xmlns:r="http://schemas.openxmlformats.org/officeDocument/2006/relationships" id="256" r:id="R970cc0d86b73498b"/>
    <p:sldId xmlns:r="http://schemas.openxmlformats.org/officeDocument/2006/relationships" id="257" r:id="R67540af7bd6b4216"/>
    <p:sldId xmlns:r="http://schemas.openxmlformats.org/officeDocument/2006/relationships" id="258" r:id="R4f1d37d9dc4144a7"/>
    <p:sldId xmlns:r="http://schemas.openxmlformats.org/officeDocument/2006/relationships" id="259" r:id="Ra547a0b3ce0d409e"/>
    <p:sldId xmlns:r="http://schemas.openxmlformats.org/officeDocument/2006/relationships" id="260" r:id="Rb9fec1a73d844011"/>
    <p:sldId xmlns:r="http://schemas.openxmlformats.org/officeDocument/2006/relationships" id="261" r:id="Rb14c86cdfd1545ae"/>
    <p:sldId xmlns:r="http://schemas.openxmlformats.org/officeDocument/2006/relationships" id="262" r:id="R9a67c2fa0d304574"/>
    <p:sldId xmlns:r="http://schemas.openxmlformats.org/officeDocument/2006/relationships" id="263" r:id="R9bc057bbb6c246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de0dc7ec924189" /><Relationship Type="http://schemas.openxmlformats.org/officeDocument/2006/relationships/slideMaster" Target="/ppt/slideMasters/slideMaster1.xml" Id="Rd2033f1bad334f8f" /><Relationship Type="http://schemas.openxmlformats.org/officeDocument/2006/relationships/notesMaster" Target="/ppt/notesMasters/notesMaster1.xml" Id="R09c27c6934e44fb1" /><Relationship Type="http://schemas.openxmlformats.org/officeDocument/2006/relationships/presProps" Target="/ppt/presProps.xml" Id="R6706caf3ab27497f" /><Relationship Type="http://schemas.openxmlformats.org/officeDocument/2006/relationships/tableStyles" Target="/ppt/tableStyles.xml" Id="Rdd7115aad595418b" /><Relationship Type="http://schemas.openxmlformats.org/officeDocument/2006/relationships/slide" Target="/ppt/slides/slide1.xml" Id="R970cc0d86b73498b" /><Relationship Type="http://schemas.openxmlformats.org/officeDocument/2006/relationships/slide" Target="/ppt/slides/slide2.xml" Id="R67540af7bd6b4216" /><Relationship Type="http://schemas.openxmlformats.org/officeDocument/2006/relationships/slide" Target="/ppt/slides/slide3.xml" Id="R4f1d37d9dc4144a7" /><Relationship Type="http://schemas.openxmlformats.org/officeDocument/2006/relationships/slide" Target="/ppt/slides/slide4.xml" Id="Ra547a0b3ce0d409e" /><Relationship Type="http://schemas.openxmlformats.org/officeDocument/2006/relationships/slide" Target="/ppt/slides/slide5.xml" Id="Rb9fec1a73d844011" /><Relationship Type="http://schemas.openxmlformats.org/officeDocument/2006/relationships/slide" Target="/ppt/slides/slide6.xml" Id="Rb14c86cdfd1545ae" /><Relationship Type="http://schemas.openxmlformats.org/officeDocument/2006/relationships/slide" Target="/ppt/slides/slide7.xml" Id="R9a67c2fa0d304574" /><Relationship Type="http://schemas.openxmlformats.org/officeDocument/2006/relationships/slide" Target="/ppt/slides/slide8.xml" Id="R9bc057bbb6c246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5052b6fccf4d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8bf9d6ab2e4a04" /><Relationship Type="http://schemas.openxmlformats.org/officeDocument/2006/relationships/notesMaster" Target="/ppt/notesMasters/notesMaster1.xml" Id="Rcb0c546207c64e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137a0da9fe482e" /><Relationship Type="http://schemas.openxmlformats.org/officeDocument/2006/relationships/notesMaster" Target="/ppt/notesMasters/notesMaster1.xml" Id="R7b499a8ff9864a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6cae87e968432d" /><Relationship Type="http://schemas.openxmlformats.org/officeDocument/2006/relationships/notesMaster" Target="/ppt/notesMasters/notesMaster1.xml" Id="Rf0a30fa82c9d48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4e1ac7d6ec4a38" /><Relationship Type="http://schemas.openxmlformats.org/officeDocument/2006/relationships/notesMaster" Target="/ppt/notesMasters/notesMaster1.xml" Id="Re7b1616adad640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9560aa67c84df1" /><Relationship Type="http://schemas.openxmlformats.org/officeDocument/2006/relationships/notesMaster" Target="/ppt/notesMasters/notesMaster1.xml" Id="R986749ff76614d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6fb4abe6334d56" /><Relationship Type="http://schemas.openxmlformats.org/officeDocument/2006/relationships/notesMaster" Target="/ppt/notesMasters/notesMaster1.xml" Id="Rcb1c1d97424b4d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9d0fe5eb0b4803" /><Relationship Type="http://schemas.openxmlformats.org/officeDocument/2006/relationships/notesMaster" Target="/ppt/notesMasters/notesMaster1.xml" Id="Rd6cf3a9e312c4f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78393a0f454dd7" /><Relationship Type="http://schemas.openxmlformats.org/officeDocument/2006/relationships/notesMaster" Target="/ppt/notesMasters/notesMaster1.xml" Id="Rc97ff080e3fc4b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7, pp. 273-300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7, pp. 273-276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7, pp. 276-281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7, pp. 281-282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7, pp. 282-285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7, pp. 285-286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7, pp. 286-289, Figure 7.1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7, pp. 289-300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39d19577034ed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04c6f2301a417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3c114b050a48a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263fe89ad842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1e41fb514643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9d010c75cf46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8169FB-806B-4E47-8B9A-17D10B16B7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AF19E25-E47E-4B62-9957-2C67C13F6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814F789-DFC5-4F04-B92E-183A89EE52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D455E8-D177-4C2D-83EE-E3CFDF8448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11CC9B5-D49E-4BC8-9910-DF346445B3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96EC37F-050C-46C2-8160-E18163DD5F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CE7ECF-8D3D-4FB7-B5F8-98C5624157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261B2B5-3098-454F-865B-C6D1964011E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187947-1E06-4D3F-8B3F-FEB312E7F0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4A8B34-5A35-44BF-ABDD-C25AF682C2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349d177705468d" /><Relationship Type="http://schemas.openxmlformats.org/officeDocument/2006/relationships/slideLayout" Target="/ppt/slideLayouts/slideLayout1.xml" Id="Ra896c747687d4707" /><Relationship Type="http://schemas.openxmlformats.org/officeDocument/2006/relationships/slideLayout" Target="/ppt/slideLayouts/slideLayout2.xml" Id="Rfce8a101a64741d4" /><Relationship Type="http://schemas.openxmlformats.org/officeDocument/2006/relationships/slideLayout" Target="/ppt/slideLayouts/slideLayout3.xml" Id="R144d95e3443d4139" /><Relationship Type="http://schemas.openxmlformats.org/officeDocument/2006/relationships/slideLayout" Target="/ppt/slideLayouts/slideLayout4.xml" Id="R2c886d961e994516" /><Relationship Type="http://schemas.openxmlformats.org/officeDocument/2006/relationships/slideLayout" Target="/ppt/slideLayouts/slideLayout5.xml" Id="R71799dd7d6554ebd" /><Relationship Type="http://schemas.openxmlformats.org/officeDocument/2006/relationships/slideLayout" Target="/ppt/slideLayouts/slideLayout6.xml" Id="R878d4ad3be6b47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96c747687d4707"/>
    <p:sldLayoutId xmlns:r="http://schemas.openxmlformats.org/officeDocument/2006/relationships" id="2147483650" r:id="Rfce8a101a64741d4"/>
    <p:sldLayoutId xmlns:r="http://schemas.openxmlformats.org/officeDocument/2006/relationships" id="2147483651" r:id="R144d95e3443d4139"/>
    <p:sldLayoutId xmlns:r="http://schemas.openxmlformats.org/officeDocument/2006/relationships" id="2147483652" r:id="R2c886d961e994516"/>
    <p:sldLayoutId xmlns:r="http://schemas.openxmlformats.org/officeDocument/2006/relationships" id="2147483653" r:id="R71799dd7d6554ebd"/>
    <p:sldLayoutId xmlns:r="http://schemas.openxmlformats.org/officeDocument/2006/relationships" id="2147483654" r:id="R878d4ad3be6b47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bd70525d744c5d" /><Relationship Type="http://schemas.openxmlformats.org/officeDocument/2006/relationships/image" Target="/ppt/media/image.png" Id="Rec92cc645f2d4ea7" /><Relationship Type="http://schemas.openxmlformats.org/officeDocument/2006/relationships/notesSlide" Target="/ppt/notesSlides/notesSlide1.xml" Id="R383e21d8b68246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cc7775c70c4db4" /><Relationship Type="http://schemas.openxmlformats.org/officeDocument/2006/relationships/notesSlide" Target="/ppt/notesSlides/notesSlide2.xml" Id="R6ae2dcdc08ad46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2532711992440b" /><Relationship Type="http://schemas.openxmlformats.org/officeDocument/2006/relationships/notesSlide" Target="/ppt/notesSlides/notesSlide3.xml" Id="Rad7c1d4b92ae4d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3e9f115feb46e5" /><Relationship Type="http://schemas.openxmlformats.org/officeDocument/2006/relationships/image" Target="/ppt/media/image2.png" Id="R5d6513f9bba84831" /><Relationship Type="http://schemas.openxmlformats.org/officeDocument/2006/relationships/notesSlide" Target="/ppt/notesSlides/notesSlide4.xml" Id="R7afec7f8e64548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3fe2995df54767" /><Relationship Type="http://schemas.openxmlformats.org/officeDocument/2006/relationships/notesSlide" Target="/ppt/notesSlides/notesSlide5.xml" Id="Rcb15ad853ef540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050677b2974690" /><Relationship Type="http://schemas.openxmlformats.org/officeDocument/2006/relationships/notesSlide" Target="/ppt/notesSlides/notesSlide6.xml" Id="R3f687dc9633745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b3346ceef54fed" /><Relationship Type="http://schemas.openxmlformats.org/officeDocument/2006/relationships/image" Target="/ppt/media/image3.png" Id="Rb1a281331c9e4d38" /><Relationship Type="http://schemas.openxmlformats.org/officeDocument/2006/relationships/notesSlide" Target="/ppt/notesSlides/notesSlide7.xml" Id="Re2a357acf5254c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7800c341554d03" /><Relationship Type="http://schemas.openxmlformats.org/officeDocument/2006/relationships/notesSlide" Target="/ppt/notesSlides/notesSlide8.xml" Id="R97f97893eaaf4d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D7E31-DA00-43C7-BFA4-DD53CE36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1798E-FDC5-432D-BB16-4F874869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7 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C5F0E-6824-44C3-9C58-429A7545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27E6F-F964-4A25-BA6C-F9B1CEA0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MCU 선택은 사양표 한 줄이 아니라 제품의 전체 개발 조건을 결정한다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E00CE-4813-40DC-98E0-AF375D01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00062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필요한 주변장치와 성능을 충족하는지 먼저 확인한다.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소량 구매, 데이터시트 공개, 평가보드 가격과 기술지원까지 함께 본다.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현재 가격보다 장기 공급 가능성과 다른 부품으로의 이식성을 중요하게 평가한다.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완벽한 부품을 찾는 데 시간을 쓰기보다 일정 안에 구현 가능한 선택을 내린다.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67BCE-DF87-41D3-8D3D-33A5A48E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66750"/>
            <a:ext cx="4476750" cy="528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705B7-A5E6-4263-AE5E-5ACF495A0F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2cc645f2d4ea7"/>
          <a:srcRect xmlns:a="http://schemas.openxmlformats.org/drawingml/2006/main" l="2000" t="4000" r="2000" b="2000"/>
          <a:stretch xmlns:a="http://schemas.openxmlformats.org/drawingml/2006/main"/>
        </p:blipFill>
        <p:spPr>
          <a:xfrm xmlns:a="http://schemas.openxmlformats.org/drawingml/2006/main">
            <a:off x="6715125" y="781050"/>
            <a:ext cx="4191000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3026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C2D65-EF76-43DF-9716-9B48274B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FFAEF-0631-4F7E-AB99-52E30F29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7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A1746-D217-48BE-BE33-AD8DEE14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E70E0-562D-4678-A1CD-8E3CDE34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후보 부품은 기술 사양과 공급 위험을 같은 비중으로 걸러낸다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6323B-AA6D-48B2-8B75-ED88D4A6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572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주요 유통사에서 단품 주문이 가능하면 시제품과 유지보수가 쉬워진다.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데이터시트와 회로 정보가 NDA 없이 제공되어야 독립적으로 문제를 해결할 수 있다.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저가 개발 보드와 제조사 기술 담당자의 존재는 초기 시행착오를 줄인다.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OEM 공급 실적과 실제 상용 제품의 채택 여부는 단종 위험을 판단하는 단서다.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GNU 툴체인 지원은 컴파일러 비용과 특정 업체 종속을 낮춘다.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B36CC-437C-481A-A5BB-4C33C1EB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선택 목표: 최고의 부품보다 끝까지 개발하고 생산할 수 있는 부품</a:t>
            </a:r>
          </a:p>
        </p:txBody>
      </p:sp>
    </p:spTree>
    <p:extLst>
      <p:ext uri="{BB962C8B-B14F-4D97-AF65-F5344CB8AC3E}">
        <p14:creationId xmlns:p14="http://schemas.microsoft.com/office/powerpoint/2010/main" val="916658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F8B16-63B7-4539-82A9-83B9B9C9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3FAF3-629B-4D47-81C5-99AAA61C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7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66438-F3AA-4377-B5D2-54908C77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7FB5E-95AE-49D3-ABB7-4B5E5D37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코어 선택은 성능뿐 아니라 이식성, 전력, 개발비의 균형 문제다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09D0A-8169-4C4B-9214-8696B078FBB8}"/>
              </a:ext>
            </a:extLst>
          </p:cNvPr>
          <p:cNvGraphicFramePr/>
          <p:nvPr/>
        </p:nvGraphicFramePr>
        <p:xfrm>
          <a:off xmlns:a="http://schemas.openxmlformats.org/drawingml/2006/main" x="762000" y="1190625"/>
          <a:ext xmlns:a="http://schemas.openxmlformats.org/drawingml/2006/main" cx="10477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742950">
                <a:tc>
                  <a:txBody>
                    <a:bodyPr/>
                    <a:lstStyle/>
                    <a:p>
                      <a:r>
                        <a:t>코어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주요 장점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주의점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적합한 상황</a:t>
                      </a:r>
                    </a:p>
                  </a:txBody>
                  <a:tcPr marL="91440" marR="91440" marT="45720" marB="45720"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t>x86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운영체제와 드라이버가 풍부함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전력·발열·복잡한 부트 구조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소량 제품, 기능 시제품</a:t>
                      </a:r>
                    </a:p>
                  </a:txBody>
                  <a:tcPr marL="91440" marR="91440" marT="45720" marB="45720"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t>MIPS / SuperH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검증된 RISC 생태계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저가 보드와 소량 부품 확보가 어려움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해당 칩셋이 요구되는 제품</a:t>
                      </a:r>
                    </a:p>
                  </a:txBody>
                  <a:tcPr marL="91440" marR="91440" marT="45720" marB="45720"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t>PowerPC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높은 성능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보드와 개발환경 비용이 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고성능 산업용 시스템</a:t>
                      </a:r>
                    </a:p>
                  </a:txBody>
                  <a:tcPr marL="91440" marR="91440" marT="45720" marB="45720"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t>ARM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저전력, 다양한 공급사와 SoC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제품별 주변장치 차이는 확인 필요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범용 32비트 임베디드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7AAE3-0F13-4892-8910-0848A87B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책은 대중적인 코어를 선택하면 특정 MCU가 단종되어도 포팅 부담을 줄일 수 있다고 설명한다.</a:t>
            </a:r>
          </a:p>
        </p:txBody>
      </p:sp>
    </p:spTree>
    <p:extLst>
      <p:ext uri="{BB962C8B-B14F-4D97-AF65-F5344CB8AC3E}">
        <p14:creationId xmlns:p14="http://schemas.microsoft.com/office/powerpoint/2010/main" val="16020326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411023-2E51-4EF7-AA38-53ED99EF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BD83C-ED02-4728-BCE3-D8494A85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7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CE94B-DF17-489B-9FC5-CC685663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C97FB-A47C-488A-8B5F-3C455958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구하기 어려운 전용 칩의 기능은 FPGA에서 필요한 만큼 구현할 수 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003A8-52E8-4FF9-AB4B-58D60AFF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5476875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UART, 메모리 컨트롤러, 영상 처리기와 같은 사용자 정의 주변장치를 만든다.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범용 FPGA는 전용 ASSP보다 소량 구매와 설계 변경이 쉽다.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무료 HDL 도구와 공개 코어를 활용하면 개발비를 줄일 수 있다.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이미 FPGA가 필요한 시스템이라면 남는 논리와 I/O를 다른 기능에 활용할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29366-63AE-4FBF-9C54-6622632C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238250"/>
            <a:ext cx="4095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93D39-C9FF-4CD9-BBC2-4A93B25B52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513f9bba84831"/>
          <a:srcRect xmlns:a="http://schemas.openxmlformats.org/drawingml/2006/main" l="2000" t="15000" r="2000" b="25000"/>
          <a:stretch xmlns:a="http://schemas.openxmlformats.org/drawingml/2006/main"/>
        </p:blipFill>
        <p:spPr>
          <a:xfrm xmlns:a="http://schemas.openxmlformats.org/drawingml/2006/main">
            <a:off x="6905625" y="1381125"/>
            <a:ext cx="3810000" cy="3714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B1574-C6D2-4BF6-A030-E94B0F94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8162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FPGA는 기능을 직접 합성할 수 있지만 HDL 설계 역량과 검증 비용이 필요하다.</a:t>
            </a:r>
          </a:p>
        </p:txBody>
      </p:sp>
    </p:spTree>
    <p:extLst>
      <p:ext uri="{BB962C8B-B14F-4D97-AF65-F5344CB8AC3E}">
        <p14:creationId xmlns:p14="http://schemas.microsoft.com/office/powerpoint/2010/main" val="4942808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0D679-15EB-498B-8286-15CE0318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4FB90B-0264-4538-80A4-52D34029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7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949FE-17C6-4F78-BD61-DDCFB244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CD6C6-DBEF-4001-9B61-0B9C52F0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개발 보드는 팀 규모와 최종 하드웨어의 차이를 기준으로 선택한다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A61DF-9D2C-4794-84D9-FEE85BC6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평가보드: 검증된 하드웨어에서 펌웨어를 먼저 개발할 수 있지만 가격과 확장 제약이 있다.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기존 제품 재활용: 일회성 시제품에 유리하지만 메모리맵과 부트 방식을 역설계해야 한다.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자체 PCB: 최종 제품과 같은 조건에서 개발할 수 있지만 보드 오류가 소프트웨어 일정까지 멈춘다.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필요 기능을 평가보드에 연결하기 어렵다면 자체 PCB가 오히려 효율적일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34AE6-E191-47FA-BDD5-4CAF4197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76875"/>
            <a:ext cx="1019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하드웨어와 펌웨어를 동시에 디버깅하는 방식은 자유도가 높지만 첫 PCB 검토가 특히 중요하다.</a:t>
            </a:r>
          </a:p>
        </p:txBody>
      </p:sp>
    </p:spTree>
    <p:extLst>
      <p:ext uri="{BB962C8B-B14F-4D97-AF65-F5344CB8AC3E}">
        <p14:creationId xmlns:p14="http://schemas.microsoft.com/office/powerpoint/2010/main" val="20909548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93C9A-8E44-491F-A411-0BD05C4B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2B9C7-EED2-4BCC-82F6-555337A0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7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2F8BB-7AE1-448E-AEE6-4DAEE3FD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A3072-92A7-4BE9-85E5-A7479308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기본 계측기는 고가 장비보다 자주 사용되고 설계 문제를 직접 보여준다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F5E68-AD3B-4CB9-B7EB-330C6E01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멀티미터는 전압, 저항과 전원 단락을 가장 먼저 확인하는 도구다.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오실로스코프는 충분한 대역폭과 다양한 트리거 기능을 우선한다.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전류 제한형 전원공급기는 새 보드의 과전류 손상을 줄인다.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확대경과 온도조절 인두는 표면실장 부품 작업의 기본 장비다.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PC용 저가 오실로스코프는 제한된 ADC 성능 때문에 신호를 잘못 보여줄 수 있다.</a:t>
            </a:r>
          </a:p>
        </p:txBody>
      </p:sp>
    </p:spTree>
    <p:extLst>
      <p:ext uri="{BB962C8B-B14F-4D97-AF65-F5344CB8AC3E}">
        <p14:creationId xmlns:p14="http://schemas.microsoft.com/office/powerpoint/2010/main" val="14635843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B946F-CB96-48B7-A2F1-FB6D5E85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B247A-6E17-4D77-88BC-659ADFDD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7 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C0ACC-AA13-4057-BED1-74109623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E2D08-AA69-4944-8B24-ACFC371C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32비트 개발은 고수준 언어와 JTAG 중심의 디버깅 흐름을 사용한다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8FB21-82F8-4BCF-87C9-CCEB555B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5238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캐시와 파이프라인 때문에 전체 코드를 어셈블리로 수동 최적화하기 어렵다.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컴파일러 최적화를 우선 적용하고 프로파일링으로 확인된 병목만 수정한다.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JTAG은 CPU를 정지하고 레지스터, 메모리와 주변장치 상태를 직접 확인한다.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빈 Flash가 장착된 새 보드에도 초기 코드를 기록할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EBD63-8778-45F7-98DF-CFC01DCE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04875"/>
            <a:ext cx="4762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FE79D-6AAA-488C-A416-9C47117029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a281331c9e4d38"/>
          <a:srcRect xmlns:a="http://schemas.openxmlformats.org/drawingml/2006/main" l="12000" t="14000" r="12000" b="50000"/>
          <a:stretch xmlns:a="http://schemas.openxmlformats.org/drawingml/2006/main"/>
        </p:blipFill>
        <p:spPr>
          <a:xfrm xmlns:a="http://schemas.openxmlformats.org/drawingml/2006/main">
            <a:off x="6619875" y="1047750"/>
            <a:ext cx="4476750" cy="4286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24C51-63FF-4BE7-903B-FAD939F0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816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7.1. JTAG Wiggler는 프로세서 상태와 하드웨어 레지스터를 직접 다루는 디버거다.</a:t>
            </a:r>
          </a:p>
        </p:txBody>
      </p:sp>
    </p:spTree>
    <p:extLst>
      <p:ext uri="{BB962C8B-B14F-4D97-AF65-F5344CB8AC3E}">
        <p14:creationId xmlns:p14="http://schemas.microsoft.com/office/powerpoint/2010/main" val="4663056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0634B-B667-4785-89AE-C765B85F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EE81B-88E1-4A58-A891-EC7A76F8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7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0ACE1-B296-41FD-A9F7-D08504E8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CED13-3092-474B-9D91-553C8BEB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운영체제와 오픈소스 라이선스는 제품 구조와 공개 범위를 함께 결정한다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E5494-458B-44A2-942F-C8015C52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477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Linux는 하드웨어 지원이 풍부하지만 MMU, 실시간성, GPL 의무를 검토해야 한다.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uClinux는 MMU가 없는 프로세서를 대상으로 하고 eCos는 임베디드용 모듈 구성을 제공한다.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NetBSD 계열 라이선스는 상용 코드 공개 부담이 상대적으로 적다.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GPL 코드와 자체 애플리케이션의 경계를 초기 설계부터 명확하게 유지한다.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사용한 코드, 라이브러리, 글꼴과 라이선스 사본을 감사 문서로 관리한다.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오픈소스 라이선스를 지켜도 구현 알고리즘의 특허 문제는 별도로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0247992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2026-10-07T21:12:41.3260000Z</dcterms:created>
  <dcterms:modified xsi:type="dcterms:W3CDTF">2026-10-07T21:12:41.3260000Z</dcterms:modified>
</coreProperties>
</file>