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a30a20f4b44de2" /><Relationship Type="http://schemas.openxmlformats.org/officeDocument/2006/relationships/extended-properties" Target="/docProps/app.xml" Id="R9c806869365144e5" /><Relationship Type="http://schemas.openxmlformats.org/officeDocument/2006/relationships/officeDocument" Target="/ppt/presentation.xml" Id="Re57275961ce74b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8c8366873f4c91"/>
  </p:sldMasterIdLst>
  <p:notesMasterIdLst>
    <p:notesMasterId xmlns:r="http://schemas.openxmlformats.org/officeDocument/2006/relationships" r:id="Rf2b51c5f85a44b83"/>
  </p:notesMasterIdLst>
  <p:sldIdLst>
    <p:sldId xmlns:r="http://schemas.openxmlformats.org/officeDocument/2006/relationships" id="256" r:id="R49356244e2394c02"/>
    <p:sldId xmlns:r="http://schemas.openxmlformats.org/officeDocument/2006/relationships" id="257" r:id="Rd6cd12fb3c49474a"/>
    <p:sldId xmlns:r="http://schemas.openxmlformats.org/officeDocument/2006/relationships" id="258" r:id="R3b36ef6e997a4331"/>
    <p:sldId xmlns:r="http://schemas.openxmlformats.org/officeDocument/2006/relationships" id="259" r:id="Rb4e086e98627413e"/>
    <p:sldId xmlns:r="http://schemas.openxmlformats.org/officeDocument/2006/relationships" id="260" r:id="R926d0019e2494a3f"/>
    <p:sldId xmlns:r="http://schemas.openxmlformats.org/officeDocument/2006/relationships" id="261" r:id="Rf2a447ac142a4467"/>
    <p:sldId xmlns:r="http://schemas.openxmlformats.org/officeDocument/2006/relationships" id="262" r:id="Rb8cc8364fd0d4558"/>
    <p:sldId xmlns:r="http://schemas.openxmlformats.org/officeDocument/2006/relationships" id="263" r:id="Rfbfe009305944b24"/>
    <p:sldId xmlns:r="http://schemas.openxmlformats.org/officeDocument/2006/relationships" id="264" r:id="Rca684f2902b748ed"/>
    <p:sldId xmlns:r="http://schemas.openxmlformats.org/officeDocument/2006/relationships" id="265" r:id="R16d9f19c9ec94537"/>
    <p:sldId xmlns:r="http://schemas.openxmlformats.org/officeDocument/2006/relationships" id="266" r:id="R1ad90564ea1f40f9"/>
    <p:sldId xmlns:r="http://schemas.openxmlformats.org/officeDocument/2006/relationships" id="267" r:id="Rb79de577d2d246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5e6cc8cc5b44be" /><Relationship Type="http://schemas.openxmlformats.org/officeDocument/2006/relationships/slideMaster" Target="/ppt/slideMasters/slideMaster1.xml" Id="Re78c8366873f4c91" /><Relationship Type="http://schemas.openxmlformats.org/officeDocument/2006/relationships/notesMaster" Target="/ppt/notesMasters/notesMaster1.xml" Id="Rf2b51c5f85a44b83" /><Relationship Type="http://schemas.openxmlformats.org/officeDocument/2006/relationships/presProps" Target="/ppt/presProps.xml" Id="Rc32196ab69f74236" /><Relationship Type="http://schemas.openxmlformats.org/officeDocument/2006/relationships/tableStyles" Target="/ppt/tableStyles.xml" Id="Ra204e597a28143b8" /><Relationship Type="http://schemas.openxmlformats.org/officeDocument/2006/relationships/slide" Target="/ppt/slides/slide1.xml" Id="R49356244e2394c02" /><Relationship Type="http://schemas.openxmlformats.org/officeDocument/2006/relationships/slide" Target="/ppt/slides/slide2.xml" Id="Rd6cd12fb3c49474a" /><Relationship Type="http://schemas.openxmlformats.org/officeDocument/2006/relationships/slide" Target="/ppt/slides/slide3.xml" Id="R3b36ef6e997a4331" /><Relationship Type="http://schemas.openxmlformats.org/officeDocument/2006/relationships/slide" Target="/ppt/slides/slide4.xml" Id="Rb4e086e98627413e" /><Relationship Type="http://schemas.openxmlformats.org/officeDocument/2006/relationships/slide" Target="/ppt/slides/slide5.xml" Id="R926d0019e2494a3f" /><Relationship Type="http://schemas.openxmlformats.org/officeDocument/2006/relationships/slide" Target="/ppt/slides/slide6.xml" Id="Rf2a447ac142a4467" /><Relationship Type="http://schemas.openxmlformats.org/officeDocument/2006/relationships/slide" Target="/ppt/slides/slide7.xml" Id="Rb8cc8364fd0d4558" /><Relationship Type="http://schemas.openxmlformats.org/officeDocument/2006/relationships/slide" Target="/ppt/slides/slide8.xml" Id="Rfbfe009305944b24" /><Relationship Type="http://schemas.openxmlformats.org/officeDocument/2006/relationships/slide" Target="/ppt/slides/slide9.xml" Id="Rca684f2902b748ed" /><Relationship Type="http://schemas.openxmlformats.org/officeDocument/2006/relationships/slide" Target="/ppt/slides/slide10.xml" Id="R16d9f19c9ec94537" /><Relationship Type="http://schemas.openxmlformats.org/officeDocument/2006/relationships/slide" Target="/ppt/slides/slide11.xml" Id="R1ad90564ea1f40f9" /><Relationship Type="http://schemas.openxmlformats.org/officeDocument/2006/relationships/slide" Target="/ppt/slides/slide12.xml" Id="Rb79de577d2d246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ff22f0a0c740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ba927773614075" /><Relationship Type="http://schemas.openxmlformats.org/officeDocument/2006/relationships/notesMaster" Target="/ppt/notesMasters/notesMaster1.xml" Id="R35dacc8b2eac40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889c4038824ba3" /><Relationship Type="http://schemas.openxmlformats.org/officeDocument/2006/relationships/notesMaster" Target="/ppt/notesMasters/notesMaster1.xml" Id="R3fdebeddc5354b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1daed36e934914" /><Relationship Type="http://schemas.openxmlformats.org/officeDocument/2006/relationships/notesMaster" Target="/ppt/notesMasters/notesMaster1.xml" Id="R73e7fa1e5ea64c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7bffab594a49d3" /><Relationship Type="http://schemas.openxmlformats.org/officeDocument/2006/relationships/notesMaster" Target="/ppt/notesMasters/notesMaster1.xml" Id="R9d0e5576cec241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2504cfbb9d46ef" /><Relationship Type="http://schemas.openxmlformats.org/officeDocument/2006/relationships/notesMaster" Target="/ppt/notesMasters/notesMaster1.xml" Id="Rd436d6f0acc146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0e79fc1c524836" /><Relationship Type="http://schemas.openxmlformats.org/officeDocument/2006/relationships/notesMaster" Target="/ppt/notesMasters/notesMaster1.xml" Id="R174f14b26ad647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80154f350d45f6" /><Relationship Type="http://schemas.openxmlformats.org/officeDocument/2006/relationships/notesMaster" Target="/ppt/notesMasters/notesMaster1.xml" Id="Rbb6a4ababb7346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14822922984c2d" /><Relationship Type="http://schemas.openxmlformats.org/officeDocument/2006/relationships/notesMaster" Target="/ppt/notesMasters/notesMaster1.xml" Id="Rc6a681143d5e47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d2d6ccb7834ca5" /><Relationship Type="http://schemas.openxmlformats.org/officeDocument/2006/relationships/notesMaster" Target="/ppt/notesMasters/notesMaster1.xml" Id="R8d0db6eb171544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fdcd8583744227" /><Relationship Type="http://schemas.openxmlformats.org/officeDocument/2006/relationships/notesMaster" Target="/ppt/notesMasters/notesMaster1.xml" Id="R18366938393a47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d0daea434348fd" /><Relationship Type="http://schemas.openxmlformats.org/officeDocument/2006/relationships/notesMaster" Target="/ppt/notesMasters/notesMaster1.xml" Id="Rb787e8b2525548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c0e21d862f4282" /><Relationship Type="http://schemas.openxmlformats.org/officeDocument/2006/relationships/notesMaster" Target="/ppt/notesMasters/notesMaster1.xml" Id="R5ed6dc18bb0f4b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301-302, Figure 8.2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303-308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308-309, Figure 8.3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310-312, Figure 8.4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313-333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333-342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342-346, Schematic 8.5 and Figure 8.13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347-351, Figures 8.15-8.18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352-377, Schematic 8.6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378-380, Figure 8.23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380-385, Figure 8.24a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385-387, Figure 8.25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c97614258345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547da68d84b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6761d944748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2d01cab9e4c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8226503ed49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6e8d748bb41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613CCE-FF39-47D7-BC1B-3BD11E039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12967E-D2EF-4F9E-BCF2-A23F548B5A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D53A60-CD6B-4CC2-B3D2-9ADA830DBC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CA307B-193F-4C90-8644-F89493CA8C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67E7BD-E33B-4E93-BBF1-B34528F656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C82604-3C93-417B-8D92-7BBD774EFB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C4F773-93F7-4A03-9061-D77BA4400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E905D9-E441-45C6-B25E-E2906A5E1B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85F666-4941-4740-9426-1C364FA84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4AB5A6-24D1-40FF-A463-E3453ECA78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69512fbcaf4197" /><Relationship Type="http://schemas.openxmlformats.org/officeDocument/2006/relationships/slideLayout" Target="/ppt/slideLayouts/slideLayout1.xml" Id="R920382b1e332475d" /><Relationship Type="http://schemas.openxmlformats.org/officeDocument/2006/relationships/slideLayout" Target="/ppt/slideLayouts/slideLayout2.xml" Id="Rd72eb62dc27b4703" /><Relationship Type="http://schemas.openxmlformats.org/officeDocument/2006/relationships/slideLayout" Target="/ppt/slideLayouts/slideLayout3.xml" Id="R877643f2559a4da8" /><Relationship Type="http://schemas.openxmlformats.org/officeDocument/2006/relationships/slideLayout" Target="/ppt/slideLayouts/slideLayout4.xml" Id="R921ed2807fcb41f1" /><Relationship Type="http://schemas.openxmlformats.org/officeDocument/2006/relationships/slideLayout" Target="/ppt/slideLayouts/slideLayout5.xml" Id="R2900c0ead1484cf7" /><Relationship Type="http://schemas.openxmlformats.org/officeDocument/2006/relationships/slideLayout" Target="/ppt/slideLayouts/slideLayout6.xml" Id="Rb9ecb6108d9f45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0382b1e332475d"/>
    <p:sldLayoutId xmlns:r="http://schemas.openxmlformats.org/officeDocument/2006/relationships" id="2147483650" r:id="Rd72eb62dc27b4703"/>
    <p:sldLayoutId xmlns:r="http://schemas.openxmlformats.org/officeDocument/2006/relationships" id="2147483651" r:id="R877643f2559a4da8"/>
    <p:sldLayoutId xmlns:r="http://schemas.openxmlformats.org/officeDocument/2006/relationships" id="2147483652" r:id="R921ed2807fcb41f1"/>
    <p:sldLayoutId xmlns:r="http://schemas.openxmlformats.org/officeDocument/2006/relationships" id="2147483653" r:id="R2900c0ead1484cf7"/>
    <p:sldLayoutId xmlns:r="http://schemas.openxmlformats.org/officeDocument/2006/relationships" id="2147483654" r:id="Rb9ecb6108d9f45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9a4b8ec8f4478" /><Relationship Type="http://schemas.openxmlformats.org/officeDocument/2006/relationships/image" Target="/ppt/media/image.png" Id="Rf891bed4b816401b" /><Relationship Type="http://schemas.openxmlformats.org/officeDocument/2006/relationships/notesSlide" Target="/ppt/notesSlides/notesSlide1.xml" Id="Rd3ab0966cc364f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d2be20bf7c4199" /><Relationship Type="http://schemas.openxmlformats.org/officeDocument/2006/relationships/notesSlide" Target="/ppt/notesSlides/notesSlide2.xml" Id="R8a628e9b0cd249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2bd72428d4352" /><Relationship Type="http://schemas.openxmlformats.org/officeDocument/2006/relationships/image" Target="/ppt/media/image2.png" Id="Rd520c5825a7f4664" /><Relationship Type="http://schemas.openxmlformats.org/officeDocument/2006/relationships/notesSlide" Target="/ppt/notesSlides/notesSlide3.xml" Id="R9602463392f740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22e94d3d7d427c" /><Relationship Type="http://schemas.openxmlformats.org/officeDocument/2006/relationships/image" Target="/ppt/media/image3.png" Id="R8dcf21fb5c6e460c" /><Relationship Type="http://schemas.openxmlformats.org/officeDocument/2006/relationships/notesSlide" Target="/ppt/notesSlides/notesSlide4.xml" Id="Rb675d5fce1a748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10462932742d3" /><Relationship Type="http://schemas.openxmlformats.org/officeDocument/2006/relationships/notesSlide" Target="/ppt/notesSlides/notesSlide5.xml" Id="Rc9a8ba4969c24d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8efb16cc545ba" /><Relationship Type="http://schemas.openxmlformats.org/officeDocument/2006/relationships/notesSlide" Target="/ppt/notesSlides/notesSlide6.xml" Id="R15187fa7bea841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1504f9da5948df" /><Relationship Type="http://schemas.openxmlformats.org/officeDocument/2006/relationships/image" Target="/ppt/media/image4.png" Id="R14d0280ea3694d41" /><Relationship Type="http://schemas.openxmlformats.org/officeDocument/2006/relationships/notesSlide" Target="/ppt/notesSlides/notesSlide7.xml" Id="Rabdcae6ae38b46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02345d42004667" /><Relationship Type="http://schemas.openxmlformats.org/officeDocument/2006/relationships/image" Target="/ppt/media/image5.png" Id="R9ccdb42aa9944c57" /><Relationship Type="http://schemas.openxmlformats.org/officeDocument/2006/relationships/notesSlide" Target="/ppt/notesSlides/notesSlide8.xml" Id="Rad4f40fa44f044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c9e60432247a8" /><Relationship Type="http://schemas.openxmlformats.org/officeDocument/2006/relationships/image" Target="/ppt/media/image6.png" Id="R90793e5b32a6457b" /><Relationship Type="http://schemas.openxmlformats.org/officeDocument/2006/relationships/notesSlide" Target="/ppt/notesSlides/notesSlide9.xml" Id="R2079654d3fe54e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cd5f2f1f742cb" /><Relationship Type="http://schemas.openxmlformats.org/officeDocument/2006/relationships/image" Target="/ppt/media/image7.png" Id="Rfff441c5903147cc" /><Relationship Type="http://schemas.openxmlformats.org/officeDocument/2006/relationships/notesSlide" Target="/ppt/notesSlides/notesSlide10.xml" Id="R934bdb3832ad43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ab40e4c6a4c92" /><Relationship Type="http://schemas.openxmlformats.org/officeDocument/2006/relationships/image" Target="/ppt/media/image8.png" Id="Rf652303400af4b1e" /><Relationship Type="http://schemas.openxmlformats.org/officeDocument/2006/relationships/notesSlide" Target="/ppt/notesSlides/notesSlide11.xml" Id="R4d7310d259e945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8e101b398464a" /><Relationship Type="http://schemas.openxmlformats.org/officeDocument/2006/relationships/notesSlide" Target="/ppt/notesSlides/notesSlide12.xml" Id="R65edd06927d24f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6AE05-9E11-4C07-906C-55618374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F1816-09A2-4AE1-A92A-3B0A6287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00762-0BFE-4D94-AA5D-72B3AC4D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7B185-B493-4C62-B499-9C5183E8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RS-232는 MCU와 PC 사이에서 가장 단순하게 확인할 수 있는 직렬 통신이다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97BF9-0346-4086-BDF8-DEEB2C10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DTE는 PC나 터미널처럼 데이터를 만드는 장치다.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DCE는 모뎀이나 전압 변환 회로처럼 통신 매체에 연결하는 장치다.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간단한 연결은 TXD, RXD와 공통 접지만 사용한다.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RTS/CTS와 DTR/DSR은 흐름 제어와 준비 상태를 전달한다.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6211A-4442-42A4-B485-0C2728C6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19125"/>
            <a:ext cx="5429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E7BE0-BBA0-4200-BD85-3F44E98586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1bed4b816401b"/>
          <a:srcRect xmlns:a="http://schemas.openxmlformats.org/drawingml/2006/main" l="7000" t="19000" r="6000" b="26000"/>
          <a:stretch xmlns:a="http://schemas.openxmlformats.org/drawingml/2006/main"/>
        </p:blipFill>
        <p:spPr>
          <a:xfrm xmlns:a="http://schemas.openxmlformats.org/drawingml/2006/main">
            <a:off x="5953125" y="762000"/>
            <a:ext cx="5143500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62BD9-E755-45AD-945A-7CCE538D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4357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8.2. 양쪽 인터페이스는 통신 신호와 장치가 사용하는 논리 전압 사이를 변환한다.</a:t>
            </a:r>
          </a:p>
        </p:txBody>
      </p:sp>
    </p:spTree>
    <p:extLst>
      <p:ext uri="{BB962C8B-B14F-4D97-AF65-F5344CB8AC3E}">
        <p14:creationId xmlns:p14="http://schemas.microsoft.com/office/powerpoint/2010/main" val="914476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82EB0-4278-44A9-B43A-5D7C210D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70C69-054C-4AF2-94FA-B33769D6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63784-B28D-4A9A-AE23-723039DC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326F4-A773-4B7A-B4CE-7BB5E4C1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비동기 통신에 필요한 신호는 목적에 따라 데이터, 상태와 흐름 제어로 나뉜다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AB4E3-EF76-47FC-8E67-1DC585025683}"/>
              </a:ext>
            </a:extLst>
          </p:cNvPr>
          <p:cNvGraphicFramePr/>
          <p:nvPr/>
        </p:nvGraphicFramePr>
        <p:xfrm>
          <a:off xmlns:a="http://schemas.openxmlformats.org/drawingml/2006/main" x="809625" y="1238250"/>
          <a:ext xmlns:a="http://schemas.openxmlformats.org/drawingml/2006/main" cx="10287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</a:tblGrid>
              <a:tr h="530679">
                <a:tc>
                  <a:txBody>
                    <a:bodyPr/>
                    <a:lstStyle/>
                    <a:p>
                      <a:r>
                        <a:t>신호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방향과 역할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단순 3선 연결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TXD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장치가 직렬 데이터를 송신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RXD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상대 장치의 직렬 데이터를 수신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GND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두 장치의 신호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RTS / 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송신 요청과 송신 허가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생략 가능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DTR / DSR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단말과 통신 장비의 준비 상태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생략 가능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DCD / RI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반송파 검출과 호출 신호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모뎀에서 주로 사용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D11BE-4495-4605-8815-A0CCE1A0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DB-25와 DB-9는 핀 번호가 다르므로 커넥터 이름만 보고 배선하지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997709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BC06E-1E1D-4B91-938C-E17AA4F8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97813-8C08-4BF9-A058-FA0E49AC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99D8F-CDEC-4F40-B41C-7083FAA1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EEAFC-9D35-4A9B-A928-E17D1AD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RS-232 전압은 MCU의 3.3 V·5 V 논리와 극성도 범위도 다르다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D552B-8A67-4240-B2D6-CB5389DB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762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Mark는 논리 1이며 음전압으로 표현한다.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Space는 논리 0이며 양전압으로 표현한다.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-3 V와 +3 V 사이는 신뢰할 수 없는 전이 영역이다.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MAX232 계열 변환기는 전압 레벨과 논리 극성을 함께 변환한다.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RS-232 포트를 MCU GPIO에 직접 연결하면 입력이 손상될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3DFEA-374F-44B5-AD98-4572CF7D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95375"/>
            <a:ext cx="5048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DC50F-607D-4E06-912B-E076DF1D8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0c5825a7f4664"/>
          <a:srcRect xmlns:a="http://schemas.openxmlformats.org/drawingml/2006/main" l="10000" t="46000" r="10000" b="22000"/>
          <a:stretch xmlns:a="http://schemas.openxmlformats.org/drawingml/2006/main"/>
        </p:blipFill>
        <p:spPr>
          <a:xfrm xmlns:a="http://schemas.openxmlformats.org/drawingml/2006/main">
            <a:off x="6096000" y="1238250"/>
            <a:ext cx="4762500" cy="3667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8EA72-6C88-4D7C-BED2-F0DF3D59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387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8.3. 전이 영역을 피하는 전압 여유가 케이블 잡음에 대한 내성을 만든다.</a:t>
            </a:r>
          </a:p>
        </p:txBody>
      </p:sp>
    </p:spTree>
    <p:extLst>
      <p:ext uri="{BB962C8B-B14F-4D97-AF65-F5344CB8AC3E}">
        <p14:creationId xmlns:p14="http://schemas.microsoft.com/office/powerpoint/2010/main" val="506882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86755-BB90-423C-A642-B97DDE94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976BC-F540-4E60-8322-A8AF1D0F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6428B-CCE1-4BFF-9F4B-DA883881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BC23A-5E3F-4D2E-B109-FF89F42A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9600 bps에서는 각 비트를 약 104 μs 동안 유지하고 비트 중앙에서 샘플링한다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48D16-5DC4-44F3-A17C-708C4BE9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5243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유휴 상태는 Mark이며 시작 비트가 Space로 바뀌면 수신이 시작된다.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데이터는 일반적으로 최하위 비트부터 전송한다.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8N1은 데이터 8비트, 패리티 없음, 정지 비트 1개를 뜻한다.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수신 시점이 비트 경계에 가까우면 클록 오차와 잡음에 민감해진다.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9FB46-0562-46C6-A1DC-2C50008B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00125"/>
            <a:ext cx="5429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0934F-9065-44A7-85B4-0D8C26540E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f21fb5c6e460c"/>
          <a:srcRect xmlns:a="http://schemas.openxmlformats.org/drawingml/2006/main" l="10000" t="23000" r="10000" b="24000"/>
          <a:stretch xmlns:a="http://schemas.openxmlformats.org/drawingml/2006/main"/>
        </p:blipFill>
        <p:spPr>
          <a:xfrm xmlns:a="http://schemas.openxmlformats.org/drawingml/2006/main">
            <a:off x="5857875" y="1143000"/>
            <a:ext cx="5143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BC195-6222-48FB-AFA6-C33BF356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9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8.4. 시작 비트와 정지 비트 사이에서 8개 데이터 비트를 일정 간격으로 읽는다.</a:t>
            </a:r>
          </a:p>
        </p:txBody>
      </p:sp>
    </p:spTree>
    <p:extLst>
      <p:ext uri="{BB962C8B-B14F-4D97-AF65-F5344CB8AC3E}">
        <p14:creationId xmlns:p14="http://schemas.microsoft.com/office/powerpoint/2010/main" val="1505961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18234-2119-44BF-997A-05652801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F0746-1AD5-4E73-8425-7D996C2D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C6CC9-E797-4109-A5BE-C5504356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F001F-0518-46D8-A74F-CA2AA3A1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하드웨어 UART가 없어도 GPIO와 정확한 지연으로 송수신 기능을 만들 수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06F16-3AB3-41F2-8FBE-90A40889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송신 루틴은 출력 레벨을 바꾸고 한 비트 시간만큼 기다리는 과정을 반복한다.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수신 루틴은 시작 비트를 찾은 뒤 비트 중앙에서 여덟 번 샘플링한다.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어셈블리 코드는 작고 제어가 정확하지만 클록이 바뀌면 지연값을 다시 계산해야 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C의 putc(), getc(), printf()는 코드를 줄이지만 프로그램 메모리를 더 사용한다.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타이밍이 중요한 수신부는 컴파일러 라이브러리나 하드웨어 UART가 안정적이다.</a:t>
            </a:r>
          </a:p>
        </p:txBody>
      </p:sp>
    </p:spTree>
    <p:extLst>
      <p:ext uri="{BB962C8B-B14F-4D97-AF65-F5344CB8AC3E}">
        <p14:creationId xmlns:p14="http://schemas.microsoft.com/office/powerpoint/2010/main" val="18924982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EC60B-3069-440A-BD9A-B761FA3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7A909-BB64-456E-A19D-2A49162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C57AF-F56B-4815-B1F4-9931CC65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E6D63-B0C6-4EA9-8A04-084557C2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C, 어셈블리와 BASIC은 같은 통신 기능을 서로 다른 추상화 수준에서 구현한다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C29D8-A256-41F6-B339-4365779D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382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어셈블리: 비트 타이밍과 레지스터를 직접 제어하며 코드가 작다.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C: 통신 라이브러리로 개발 속도와 가독성을 높인다.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PicBasic Pro: SerIn, SerOut, DEBUG 명령으로 빠르게 기능을 검증한다.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소프트웨어 UART는 다른 작업 중 문자를 놓칠 수 있으므로 타임아웃과 폴링 주기를 설계한다.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처리 시간이 부족하면 인터럽트 기반 하드웨어 UART와 송수신 버퍼를 사용한다.</a:t>
            </a:r>
          </a:p>
        </p:txBody>
      </p:sp>
    </p:spTree>
    <p:extLst>
      <p:ext uri="{BB962C8B-B14F-4D97-AF65-F5344CB8AC3E}">
        <p14:creationId xmlns:p14="http://schemas.microsoft.com/office/powerpoint/2010/main" val="865744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88FD8-B030-4F92-AC55-3804735C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72F02-6CA3-41F2-B984-645072A4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5A692-F7A1-497B-A629-E14FC0DE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D0415-343B-4995-9CC5-0E7F528D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I²C는 두 개의 오픈드레인 선에서 주소와 클록을 공유하는 버스다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080B8-9D3E-4D7D-8519-B8323458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28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SDA는 데이터, SCL은 클록을 전달한다.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장치는 선을 HIGH로 밀지 않고 LOW로만 끌어내린다.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풀업 저항이 아무도 선을 구동하지 않을 때 HIGH 상태를 만든다.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SCL이 HIGH일 때 SDA가 내려가면 START, 올라가면 STOP이다.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B07CD-B2E8-4671-8B53-D40C0177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71500"/>
            <a:ext cx="571500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BE60C-674E-4D94-8C18-86C7644EC1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0280ea3694d41"/>
          <a:srcRect xmlns:a="http://schemas.openxmlformats.org/drawingml/2006/main" l="8000" t="5000" r="8000" b="20000"/>
          <a:stretch xmlns:a="http://schemas.openxmlformats.org/drawingml/2006/main"/>
        </p:blipFill>
        <p:spPr>
          <a:xfrm xmlns:a="http://schemas.openxmlformats.org/drawingml/2006/main">
            <a:off x="5619750" y="714375"/>
            <a:ext cx="5429250" cy="5048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57152-5E6D-4363-B108-778F91DC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Schematic 8.5와 Figure 8.13. 풀업 구조와 START·STOP 조건이 I²C의 기본 전기 규칙을 정의한다.</a:t>
            </a:r>
          </a:p>
        </p:txBody>
      </p:sp>
    </p:spTree>
    <p:extLst>
      <p:ext uri="{BB962C8B-B14F-4D97-AF65-F5344CB8AC3E}">
        <p14:creationId xmlns:p14="http://schemas.microsoft.com/office/powerpoint/2010/main" val="11615675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ECEFC-98C5-4635-BB11-100C0211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8AEA5-A1C1-4D02-937C-451839D8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23600-5989-4BA9-992B-8D3DE1BC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94D06-F40A-468E-8A0E-CD6BA204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wired-AND 구조는 느린 장치의 클록 연장과 여러 마스터의 중재를 가능하게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2205B-F1E2-456E-B867-517BC00A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476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한 장치라도 SCL을 LOW로 유지하면 전체 버스가 LOW가 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슬레이브는 처리 시간이 필요할 때 SCL을 LOW로 잡아 클록을 연장한다.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마스터는 SDA에 쓴 값과 실제 버스 값을 비교해 중재 패배를 감지한다.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7비트 주소 뒤의 최하위 비트가 읽기 또는 쓰기 방향을 결정한다.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DA04A-349F-42FA-AB40-55D18794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81050"/>
            <a:ext cx="52863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67D8F-00DB-4378-A7CC-00BFC4EB3D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db42aa9944c57"/>
          <a:srcRect xmlns:a="http://schemas.openxmlformats.org/drawingml/2006/main" l="12000" t="5000" r="12000" b="8000"/>
          <a:stretch xmlns:a="http://schemas.openxmlformats.org/drawingml/2006/main"/>
        </p:blipFill>
        <p:spPr>
          <a:xfrm xmlns:a="http://schemas.openxmlformats.org/drawingml/2006/main">
            <a:off x="5905500" y="923925"/>
            <a:ext cx="5000625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7DDFE-86C1-4EDA-91BE-380CDF79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6197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8.16. 어느 장치든 LOW를 출력하면 버스 상태도 LOW가 된다.</a:t>
            </a:r>
          </a:p>
        </p:txBody>
      </p:sp>
    </p:spTree>
    <p:extLst>
      <p:ext uri="{BB962C8B-B14F-4D97-AF65-F5344CB8AC3E}">
        <p14:creationId xmlns:p14="http://schemas.microsoft.com/office/powerpoint/2010/main" val="1332796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C25DC-EFAC-42C1-8556-F0D9D307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34843-FB75-4E2E-965D-DF4D733F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79F9B-32A5-42A5-94E7-463378FA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BB7C8-8A91-45B6-85E7-5C4356C5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AVR 마스터와 PIC 슬레이브 예제는 주소, 상태 코드와 인터럽트를 하나의 시스템으로 연결한다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9E393-72BB-4BAC-A71A-7212DA2C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6196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AVR은 START를 만들고 슬레이브 주소와 데이터를 전송한다.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TWI 상태 레지스터로 주소 ACK, 데이터 ACK와 오류를 확인한다.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PIC MSSP는 주소 일치와 각 바이트 전송마다 인터럽트를 발생시킨다.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마지막 수신 바이트에는 NAK를 보내 읽기 세션을 끝낸다.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PC 입력은 RS-232로 AVR에 들어오고 I²C를 통해 PIC 출력 래치로 전달된다.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91EE6-D109-4812-B4F4-4D9A95B4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09625"/>
            <a:ext cx="52863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70724-9511-493A-9AC5-1F8C8C17A2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93e5b32a6457b"/>
          <a:srcRect xmlns:a="http://schemas.openxmlformats.org/drawingml/2006/main" l="3000" t="4000" r="3000" b="32000"/>
          <a:stretch xmlns:a="http://schemas.openxmlformats.org/drawingml/2006/main"/>
        </p:blipFill>
        <p:spPr>
          <a:xfrm xmlns:a="http://schemas.openxmlformats.org/drawingml/2006/main">
            <a:off x="5953125" y="952500"/>
            <a:ext cx="5000625" cy="4429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DB5A5-555B-4ADF-AF58-F3EDB3A1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6197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Schematic 8.6. AVR, RS-232 변환기, I²C 풀업과 출력 래치가 결합된 실습 회로다.</a:t>
            </a:r>
          </a:p>
        </p:txBody>
      </p:sp>
    </p:spTree>
    <p:extLst>
      <p:ext uri="{BB962C8B-B14F-4D97-AF65-F5344CB8AC3E}">
        <p14:creationId xmlns:p14="http://schemas.microsoft.com/office/powerpoint/2010/main" val="162312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99477-431E-47D3-AD40-E6EDD3A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F4934-DE6C-4D05-8D1E-434EA21E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B5C5D-0E05-4BF2-A3E7-64A098D9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DA02C-D29F-49A3-A225-B9319CA6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SPI는 짧은 거리에서 작은 데이터를 빠르게 주고받는 동기식 인터페이스다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9F08B-E267-4A39-B464-83F58237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476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SCK가 전송 시점을 만들고 SDO·SDI가 양방향 데이터를 운반한다.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CS 또는 SS가 통신할 슬레이브를 선택한다.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클록 극성과 데이터 유효 에지 조합으로 네 가지 모드가 만들어진다.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두 장치가 공통으로 지원하는 모드를 선택해야 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단일 종단 신호이므로 긴 케이블이나 잡음이 많은 환경에는 불리하다.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E1751-9986-4AC0-AFB8-3C38C0FE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66750"/>
            <a:ext cx="5476875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274EC-E26A-486F-9D48-054AF9E9BA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441c5903147cc"/>
          <a:srcRect xmlns:a="http://schemas.openxmlformats.org/drawingml/2006/main" l="4000" t="34000" r="4000" b="14000"/>
          <a:stretch xmlns:a="http://schemas.openxmlformats.org/drawingml/2006/main"/>
        </p:blipFill>
        <p:spPr>
          <a:xfrm xmlns:a="http://schemas.openxmlformats.org/drawingml/2006/main">
            <a:off x="5810250" y="809625"/>
            <a:ext cx="5191125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3F2A0-37F3-4CD0-8353-859365B7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79120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8.23. 모드마다 수신기가 데이터를 읽는 클록 에지가 달라진다.</a:t>
            </a:r>
          </a:p>
        </p:txBody>
      </p:sp>
    </p:spTree>
    <p:extLst>
      <p:ext uri="{BB962C8B-B14F-4D97-AF65-F5344CB8AC3E}">
        <p14:creationId xmlns:p14="http://schemas.microsoft.com/office/powerpoint/2010/main" val="98654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C9079-5D43-4822-B08B-EB9430EE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6AAF4-7F72-439A-BAB0-4CF04EFE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BA11D-0C9B-486A-8FC1-5CAB393E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B9601-8304-4A0C-98F2-C2476B72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CAN은 오류 검출과 우선순위 중재를 하드웨어가 처리하는 다중 노드 버스다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CE6FC-EECA-488A-AD37-E9E1C078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095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차동 버스와 전용 트랜시버를 사용해 산업 환경에서 높은 신뢰성을 확보한다.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표준 프레임은 11비트 ID, 확장 프레임은 29비트 ID를 사용한다.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데이터 프레임은 최대 8바이트와 CRC, ACK 필드를 포함한다.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컨트롤러가 CRC 생성과 오류 검출을 처리해 CPU 부담을 줄인다.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2ACAA-0262-4E38-9BF4-EF3C895B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66750"/>
            <a:ext cx="59531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98E60-7BBD-4E87-9A69-A23A5255F4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2303400af4b1e"/>
          <a:srcRect xmlns:a="http://schemas.openxmlformats.org/drawingml/2006/main" l="2000" t="28000" r="2000" b="7000"/>
          <a:stretch xmlns:a="http://schemas.openxmlformats.org/drawingml/2006/main"/>
        </p:blipFill>
        <p:spPr>
          <a:xfrm xmlns:a="http://schemas.openxmlformats.org/drawingml/2006/main">
            <a:off x="5334000" y="809625"/>
            <a:ext cx="5667375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71A28-D0D1-4B13-B8B2-FD41C0C6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293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8.24a. ID, 제어, 데이터, CRC와 ACK가 하나의 CAN 데이터 프레임을 구성한다.</a:t>
            </a:r>
          </a:p>
        </p:txBody>
      </p:sp>
    </p:spTree>
    <p:extLst>
      <p:ext uri="{BB962C8B-B14F-4D97-AF65-F5344CB8AC3E}">
        <p14:creationId xmlns:p14="http://schemas.microsoft.com/office/powerpoint/2010/main" val="12847141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EEC54-085D-4316-9053-742B4ABB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F81D2-A6A1-4D84-B99E-7DF1DD2E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C11BB-FCE6-4625-842B-0CFBD4E6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0F570-7655-46CB-9537-0EC40612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CAN 중재에서는 낮은 ID 값이 높은 우선순위를 얻고 승리 메시지는 손상되지 않는다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9672F-AF81-469C-9E24-2C0DAF49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382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논리 0은 dominant, 논리 1은 recessive 상태다.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노드가 recessive를 보냈는데 버스가 dominant이면 해당 노드는 전송을 중단한다.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중요한 경보 메시지에 낮은 ID를 할당하면 정상 메시지보다 먼저 전송된다.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Acceptance filter와 mask는 필요한 ID만 수신 버퍼에 저장한다.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필터링은 CPU의 메시지 처리량을 줄이지만 모든 정상 프레임에는 ACK를 응답한다.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C7448-68DB-4885-A773-F2965A62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RS-232에서 익힌 프레임과 타이밍 개념은 I²C, SPI, CAN을 이해하는 기반이 된다.</a:t>
            </a:r>
          </a:p>
        </p:txBody>
      </p:sp>
    </p:spTree>
    <p:extLst>
      <p:ext uri="{BB962C8B-B14F-4D97-AF65-F5344CB8AC3E}">
        <p14:creationId xmlns:p14="http://schemas.microsoft.com/office/powerpoint/2010/main" val="277557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2026-10-07T21:12:46.5410000Z</dcterms:created>
  <dcterms:modified xsi:type="dcterms:W3CDTF">2026-10-07T21:12:46.5410000Z</dcterms:modified>
</coreProperties>
</file>