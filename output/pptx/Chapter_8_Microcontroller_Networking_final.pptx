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e20ed3104242c5" /><Relationship Type="http://schemas.openxmlformats.org/officeDocument/2006/relationships/extended-properties" Target="/docProps/app.xml" Id="R1f5e1e2cd15349aa" /><Relationship Type="http://schemas.openxmlformats.org/officeDocument/2006/relationships/officeDocument" Target="/ppt/presentation.xml" Id="R3ab18566baba48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878f08b6fb4043"/>
  </p:sldMasterIdLst>
  <p:notesMasterIdLst>
    <p:notesMasterId xmlns:r="http://schemas.openxmlformats.org/officeDocument/2006/relationships" r:id="R6b561bd217b74be2"/>
  </p:notesMasterIdLst>
  <p:sldIdLst>
    <p:sldId xmlns:r="http://schemas.openxmlformats.org/officeDocument/2006/relationships" id="256" r:id="Rd3e187f135e34035"/>
    <p:sldId xmlns:r="http://schemas.openxmlformats.org/officeDocument/2006/relationships" id="257" r:id="R683834e8b7594d0e"/>
    <p:sldId xmlns:r="http://schemas.openxmlformats.org/officeDocument/2006/relationships" id="258" r:id="Re3d697fcc3ff48d1"/>
    <p:sldId xmlns:r="http://schemas.openxmlformats.org/officeDocument/2006/relationships" id="259" r:id="R5eb53561df234f37"/>
    <p:sldId xmlns:r="http://schemas.openxmlformats.org/officeDocument/2006/relationships" id="260" r:id="R90a399046ccd442b"/>
    <p:sldId xmlns:r="http://schemas.openxmlformats.org/officeDocument/2006/relationships" id="261" r:id="R517aeff619ee4bef"/>
    <p:sldId xmlns:r="http://schemas.openxmlformats.org/officeDocument/2006/relationships" id="262" r:id="Rd77f3f2b25604767"/>
    <p:sldId xmlns:r="http://schemas.openxmlformats.org/officeDocument/2006/relationships" id="263" r:id="R5d31b74ec95e4bd6"/>
    <p:sldId xmlns:r="http://schemas.openxmlformats.org/officeDocument/2006/relationships" id="264" r:id="R10fbd22101014c78"/>
    <p:sldId xmlns:r="http://schemas.openxmlformats.org/officeDocument/2006/relationships" id="265" r:id="R93671fb5b9ed43f3"/>
    <p:sldId xmlns:r="http://schemas.openxmlformats.org/officeDocument/2006/relationships" id="266" r:id="R9ec7836f8df542c7"/>
    <p:sldId xmlns:r="http://schemas.openxmlformats.org/officeDocument/2006/relationships" id="267" r:id="Re326203522b540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754977d5a74b3e" /><Relationship Type="http://schemas.openxmlformats.org/officeDocument/2006/relationships/slideMaster" Target="/ppt/slideMasters/slideMaster1.xml" Id="Rfa878f08b6fb4043" /><Relationship Type="http://schemas.openxmlformats.org/officeDocument/2006/relationships/notesMaster" Target="/ppt/notesMasters/notesMaster1.xml" Id="R6b561bd217b74be2" /><Relationship Type="http://schemas.openxmlformats.org/officeDocument/2006/relationships/presProps" Target="/ppt/presProps.xml" Id="Rf000cb3a4c6346e8" /><Relationship Type="http://schemas.openxmlformats.org/officeDocument/2006/relationships/tableStyles" Target="/ppt/tableStyles.xml" Id="R4483c94787934cbf" /><Relationship Type="http://schemas.openxmlformats.org/officeDocument/2006/relationships/slide" Target="/ppt/slides/slide1.xml" Id="Rd3e187f135e34035" /><Relationship Type="http://schemas.openxmlformats.org/officeDocument/2006/relationships/slide" Target="/ppt/slides/slide2.xml" Id="R683834e8b7594d0e" /><Relationship Type="http://schemas.openxmlformats.org/officeDocument/2006/relationships/slide" Target="/ppt/slides/slide3.xml" Id="Re3d697fcc3ff48d1" /><Relationship Type="http://schemas.openxmlformats.org/officeDocument/2006/relationships/slide" Target="/ppt/slides/slide4.xml" Id="R5eb53561df234f37" /><Relationship Type="http://schemas.openxmlformats.org/officeDocument/2006/relationships/slide" Target="/ppt/slides/slide5.xml" Id="R90a399046ccd442b" /><Relationship Type="http://schemas.openxmlformats.org/officeDocument/2006/relationships/slide" Target="/ppt/slides/slide6.xml" Id="R517aeff619ee4bef" /><Relationship Type="http://schemas.openxmlformats.org/officeDocument/2006/relationships/slide" Target="/ppt/slides/slide7.xml" Id="Rd77f3f2b25604767" /><Relationship Type="http://schemas.openxmlformats.org/officeDocument/2006/relationships/slide" Target="/ppt/slides/slide8.xml" Id="R5d31b74ec95e4bd6" /><Relationship Type="http://schemas.openxmlformats.org/officeDocument/2006/relationships/slide" Target="/ppt/slides/slide9.xml" Id="R10fbd22101014c78" /><Relationship Type="http://schemas.openxmlformats.org/officeDocument/2006/relationships/slide" Target="/ppt/slides/slide10.xml" Id="R93671fb5b9ed43f3" /><Relationship Type="http://schemas.openxmlformats.org/officeDocument/2006/relationships/slide" Target="/ppt/slides/slide11.xml" Id="R9ec7836f8df542c7" /><Relationship Type="http://schemas.openxmlformats.org/officeDocument/2006/relationships/slide" Target="/ppt/slides/slide12.xml" Id="Re326203522b5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f468fb5ee749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32c09e5036467d" /><Relationship Type="http://schemas.openxmlformats.org/officeDocument/2006/relationships/notesMaster" Target="/ppt/notesMasters/notesMaster1.xml" Id="R6e20113d4a4947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c966015a8d4871" /><Relationship Type="http://schemas.openxmlformats.org/officeDocument/2006/relationships/notesMaster" Target="/ppt/notesMasters/notesMaster1.xml" Id="R6cd4bc8efcca41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208895bef441ce" /><Relationship Type="http://schemas.openxmlformats.org/officeDocument/2006/relationships/notesMaster" Target="/ppt/notesMasters/notesMaster1.xml" Id="R14af88512a164c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2e7638c2454844" /><Relationship Type="http://schemas.openxmlformats.org/officeDocument/2006/relationships/notesMaster" Target="/ppt/notesMasters/notesMaster1.xml" Id="Re3366bac745d4d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2322f6aed74620" /><Relationship Type="http://schemas.openxmlformats.org/officeDocument/2006/relationships/notesMaster" Target="/ppt/notesMasters/notesMaster1.xml" Id="Rb7ee92b9e79f4c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96f79b6364969" /><Relationship Type="http://schemas.openxmlformats.org/officeDocument/2006/relationships/notesMaster" Target="/ppt/notesMasters/notesMaster1.xml" Id="R81e0be25766a44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17977912af4b86" /><Relationship Type="http://schemas.openxmlformats.org/officeDocument/2006/relationships/notesMaster" Target="/ppt/notesMasters/notesMaster1.xml" Id="Rfa30997d20ba4d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9b119d15234567" /><Relationship Type="http://schemas.openxmlformats.org/officeDocument/2006/relationships/notesMaster" Target="/ppt/notesMasters/notesMaster1.xml" Id="R8c99bfcbc3b443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407402a9994756" /><Relationship Type="http://schemas.openxmlformats.org/officeDocument/2006/relationships/notesMaster" Target="/ppt/notesMasters/notesMaster1.xml" Id="R0dc7b40c41374d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f6e574364f4ba5" /><Relationship Type="http://schemas.openxmlformats.org/officeDocument/2006/relationships/notesMaster" Target="/ppt/notesMasters/notesMaster1.xml" Id="R6e94f276cc384d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adc0d5a01f4b1d" /><Relationship Type="http://schemas.openxmlformats.org/officeDocument/2006/relationships/notesMaster" Target="/ppt/notesMasters/notesMaster1.xml" Id="R862baa575a7f4a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2b6b1a8062413e" /><Relationship Type="http://schemas.openxmlformats.org/officeDocument/2006/relationships/notesMaster" Target="/ppt/notesMasters/notesMaster1.xml" Id="R28bd01b4cd2c46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301-302, Figure 8.2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303-308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308-309, Figure 8.3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310-312, Figure 8.4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313-333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333-342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342-346, Schematic 8.5 and Figure 8.13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347-351, Figures 8.15-8.18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352-377, Schematic 8.6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378-380, Figure 8.23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380-385, Figure 8.24a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8, pp. 385-387, Figure 8.25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b1e980190478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db88a16b6f49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0c5f66abf46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bfd6c252342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d0ace125345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e914685d54d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388FAE-7A24-47E0-8551-EA76B41949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47E880-1113-44A4-8101-A714E3FC81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13D0A2-17B4-4C85-976E-84CE5C762D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760239-5451-4412-A002-F476FD5822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0CEDAB-7B7F-4B50-ADE0-F9DE6E8547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65B4B4-0AF5-4B52-9123-1C12643D7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FA4D63-F0E7-4875-A8C0-B1F996E14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C34ABE7-C1AE-4EED-AED6-6811E23277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18EFC5-8A13-4CCC-A22F-D83D06B80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D580B1-4922-4929-B136-0AE65D2EE3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42992509b14644" /><Relationship Type="http://schemas.openxmlformats.org/officeDocument/2006/relationships/slideLayout" Target="/ppt/slideLayouts/slideLayout1.xml" Id="R257f0b9b09c94bbf" /><Relationship Type="http://schemas.openxmlformats.org/officeDocument/2006/relationships/slideLayout" Target="/ppt/slideLayouts/slideLayout2.xml" Id="R0ccfb520ec2f498f" /><Relationship Type="http://schemas.openxmlformats.org/officeDocument/2006/relationships/slideLayout" Target="/ppt/slideLayouts/slideLayout3.xml" Id="R7300b89457584cfc" /><Relationship Type="http://schemas.openxmlformats.org/officeDocument/2006/relationships/slideLayout" Target="/ppt/slideLayouts/slideLayout4.xml" Id="Rcc7f5a4819944c02" /><Relationship Type="http://schemas.openxmlformats.org/officeDocument/2006/relationships/slideLayout" Target="/ppt/slideLayouts/slideLayout5.xml" Id="R2d63eb06d6c8402c" /><Relationship Type="http://schemas.openxmlformats.org/officeDocument/2006/relationships/slideLayout" Target="/ppt/slideLayouts/slideLayout6.xml" Id="Rac0a457b0c1b43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f0b9b09c94bbf"/>
    <p:sldLayoutId xmlns:r="http://schemas.openxmlformats.org/officeDocument/2006/relationships" id="2147483650" r:id="R0ccfb520ec2f498f"/>
    <p:sldLayoutId xmlns:r="http://schemas.openxmlformats.org/officeDocument/2006/relationships" id="2147483651" r:id="R7300b89457584cfc"/>
    <p:sldLayoutId xmlns:r="http://schemas.openxmlformats.org/officeDocument/2006/relationships" id="2147483652" r:id="Rcc7f5a4819944c02"/>
    <p:sldLayoutId xmlns:r="http://schemas.openxmlformats.org/officeDocument/2006/relationships" id="2147483653" r:id="R2d63eb06d6c8402c"/>
    <p:sldLayoutId xmlns:r="http://schemas.openxmlformats.org/officeDocument/2006/relationships" id="2147483654" r:id="Rac0a457b0c1b43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49ee1a73084ed8" /><Relationship Type="http://schemas.openxmlformats.org/officeDocument/2006/relationships/image" Target="/ppt/media/image.png" Id="R741b00f817f649d2" /><Relationship Type="http://schemas.openxmlformats.org/officeDocument/2006/relationships/notesSlide" Target="/ppt/notesSlides/notesSlide1.xml" Id="Ra552ebb1bb714e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b3ee5a2b544ef" /><Relationship Type="http://schemas.openxmlformats.org/officeDocument/2006/relationships/notesSlide" Target="/ppt/notesSlides/notesSlide2.xml" Id="Rc26def9fd7e44a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c00a6c3bb4970" /><Relationship Type="http://schemas.openxmlformats.org/officeDocument/2006/relationships/image" Target="/ppt/media/image2.png" Id="Ref0d2f3c19da4778" /><Relationship Type="http://schemas.openxmlformats.org/officeDocument/2006/relationships/notesSlide" Target="/ppt/notesSlides/notesSlide3.xml" Id="R25da363362ab4e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34fd666b8343d3" /><Relationship Type="http://schemas.openxmlformats.org/officeDocument/2006/relationships/image" Target="/ppt/media/image3.png" Id="R04628e08bd284381" /><Relationship Type="http://schemas.openxmlformats.org/officeDocument/2006/relationships/notesSlide" Target="/ppt/notesSlides/notesSlide4.xml" Id="R9010582f7b2945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2990ee8a77463a" /><Relationship Type="http://schemas.openxmlformats.org/officeDocument/2006/relationships/notesSlide" Target="/ppt/notesSlides/notesSlide5.xml" Id="Rb458a63e617646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1f498df844f75" /><Relationship Type="http://schemas.openxmlformats.org/officeDocument/2006/relationships/notesSlide" Target="/ppt/notesSlides/notesSlide6.xml" Id="R00ebe8b17e4b4e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c675b9f9c04c9f" /><Relationship Type="http://schemas.openxmlformats.org/officeDocument/2006/relationships/image" Target="/ppt/media/image4.png" Id="R19c4a962f8ca4bd9" /><Relationship Type="http://schemas.openxmlformats.org/officeDocument/2006/relationships/notesSlide" Target="/ppt/notesSlides/notesSlide7.xml" Id="Ra4a0cbd133f046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da8eccf6bb44fc" /><Relationship Type="http://schemas.openxmlformats.org/officeDocument/2006/relationships/image" Target="/ppt/media/image5.png" Id="Rc8e7f96489ba41fa" /><Relationship Type="http://schemas.openxmlformats.org/officeDocument/2006/relationships/notesSlide" Target="/ppt/notesSlides/notesSlide8.xml" Id="Rb3043c19f55942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f17deb5b24136" /><Relationship Type="http://schemas.openxmlformats.org/officeDocument/2006/relationships/image" Target="/ppt/media/image6.png" Id="R9c3c982569294ab0" /><Relationship Type="http://schemas.openxmlformats.org/officeDocument/2006/relationships/notesSlide" Target="/ppt/notesSlides/notesSlide9.xml" Id="Re3e694d605214a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12d7df730423e" /><Relationship Type="http://schemas.openxmlformats.org/officeDocument/2006/relationships/image" Target="/ppt/media/image7.png" Id="Ra03f5b006ef84759" /><Relationship Type="http://schemas.openxmlformats.org/officeDocument/2006/relationships/notesSlide" Target="/ppt/notesSlides/notesSlide10.xml" Id="R6fb94b14fc234f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4bfb8531949f3" /><Relationship Type="http://schemas.openxmlformats.org/officeDocument/2006/relationships/image" Target="/ppt/media/image8.png" Id="R4607295cb6194a89" /><Relationship Type="http://schemas.openxmlformats.org/officeDocument/2006/relationships/notesSlide" Target="/ppt/notesSlides/notesSlide11.xml" Id="Rc3887e7621f34a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4ce8791cf6409a" /><Relationship Type="http://schemas.openxmlformats.org/officeDocument/2006/relationships/notesSlide" Target="/ppt/notesSlides/notesSlide12.xml" Id="Raccb90e7432b4a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6E930-6890-4995-8758-E8EC8993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FAB394-E0F6-4B36-9AAA-CAD27F50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8132E-878B-4939-967A-752D10D3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34127-7A73-4AF4-9503-5534C4B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RS-232는 MCU와 PC 사이에서 가장 단순하게 확인할 수 있는 직렬 통신이다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3788E-D2B6-464A-BC77-36E793F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DTE는 PC나 터미널처럼 데이터를 만드는 장치다.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DCE는 모뎀이나 전압 변환 회로처럼 통신 매체에 연결하는 장치다.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간단한 연결은 TXD, RXD와 공통 접지만 사용한다.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RTS/CTS와 DTR/DSR은 흐름 제어와 준비 상태를 전달한다.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18865-9662-4BEC-9018-FBC00896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19125"/>
            <a:ext cx="5429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B7AF9-F673-4BEC-A104-58A353158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b00f817f649d2"/>
          <a:srcRect xmlns:a="http://schemas.openxmlformats.org/drawingml/2006/main" l="7000" t="19000" r="6000" b="26000"/>
          <a:stretch xmlns:a="http://schemas.openxmlformats.org/drawingml/2006/main"/>
        </p:blipFill>
        <p:spPr>
          <a:xfrm xmlns:a="http://schemas.openxmlformats.org/drawingml/2006/main">
            <a:off x="5953125" y="762000"/>
            <a:ext cx="514350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283FB-524C-494D-85D0-E10428AD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4357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8.2. 양쪽 인터페이스는 통신 신호와 장치가 사용하는 논리 전압 사이를 변환한다.</a:t>
            </a:r>
          </a:p>
        </p:txBody>
      </p:sp>
    </p:spTree>
    <p:extLst>
      <p:ext uri="{BB962C8B-B14F-4D97-AF65-F5344CB8AC3E}">
        <p14:creationId xmlns:p14="http://schemas.microsoft.com/office/powerpoint/2010/main" val="359670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17DE4-FA7E-42E3-A12F-BBCCF760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B2FD5-1151-479F-9997-08777FCA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F7CB9-CE02-47E8-816A-825C1731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57302-CE27-43F1-A975-7215B6B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비동기 통신에 필요한 신호는 목적에 따라 데이터, 상태와 흐름 제어로 나뉜다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0578F-BDB2-4FDC-950E-CA07D9884B29}"/>
              </a:ext>
            </a:extLst>
          </p:cNvPr>
          <p:cNvGraphicFramePr/>
          <p:nvPr/>
        </p:nvGraphicFramePr>
        <p:xfrm>
          <a:off xmlns:a="http://schemas.openxmlformats.org/drawingml/2006/main" x="809625" y="1238250"/>
          <a:ext xmlns:a="http://schemas.openxmlformats.org/drawingml/2006/main" cx="10287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  <a:gridCol w="3429000"/>
              </a:tblGrid>
              <a:tr h="530679">
                <a:tc>
                  <a:txBody>
                    <a:bodyPr/>
                    <a:lstStyle/>
                    <a:p>
                      <a:r>
                        <a:t>신호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방향과 역할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단순 3선 연결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TXD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장치가 직렬 데이터를 송신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RXD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상대 장치의 직렬 데이터를 수신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GND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두 장치의 신호 기준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사용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RTS / CTS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송신 요청과 송신 허가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생략 가능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DTR / DSR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단말과 통신 장비의 준비 상태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생략 가능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r>
                        <a:t>DCD / RI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반송파 검출과 호출 신호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모뎀에서 주로 사용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A4EAA-0C27-419E-9A3D-E1691746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DB-25와 DB-9는 핀 번호가 다르므로 커넥터 이름만 보고 배선하지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618374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E3481-F177-480D-9CCB-C67FA26A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DCA57-91DF-464F-B3D5-5FE0BBB7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5C43D-75A4-4C89-924B-FC0F2D02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3AEA4-0941-4524-8A05-F0D848D3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RS-232 전압은 MCU의 3.3 V·5 V 논리와 극성도 범위도 다르다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C3C86-3B83-4881-ADE4-69F84562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762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Mark는 논리 1이며 음전압으로 표현한다.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Space는 논리 0이며 양전압으로 표현한다.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-3 V와 +3 V 사이는 신뢰할 수 없는 전이 영역이다.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MAX232 계열 변환기는 전압 레벨과 논리 극성을 함께 변환한다.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RS-232 포트를 MCU GPIO에 직접 연결하면 입력이 손상될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80FBB-1E32-4562-9B32-A4D25240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95375"/>
            <a:ext cx="5048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9FB47-D46B-43CB-BDC4-DEFD5E87FF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d2f3c19da4778"/>
          <a:srcRect xmlns:a="http://schemas.openxmlformats.org/drawingml/2006/main" l="10000" t="46000" r="10000" b="22000"/>
          <a:stretch xmlns:a="http://schemas.openxmlformats.org/drawingml/2006/main"/>
        </p:blipFill>
        <p:spPr>
          <a:xfrm xmlns:a="http://schemas.openxmlformats.org/drawingml/2006/main">
            <a:off x="6096000" y="1238250"/>
            <a:ext cx="4762500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5B866-AF77-4B56-824F-2AB328F4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387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8.3. 전이 영역을 피하는 전압 여유가 케이블 잡음에 대한 내성을 만든다.</a:t>
            </a:r>
          </a:p>
        </p:txBody>
      </p:sp>
    </p:spTree>
    <p:extLst>
      <p:ext uri="{BB962C8B-B14F-4D97-AF65-F5344CB8AC3E}">
        <p14:creationId xmlns:p14="http://schemas.microsoft.com/office/powerpoint/2010/main" val="1032766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C0C9D-96C6-4DA3-9363-1789EC87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A5E9-C99C-4102-A21B-7FFF211A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C4B75-3C8A-4C14-8B66-9859D84B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B3938-4778-408D-A007-F8E7480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9600 bps에서는 각 비트를 약 104 μs 동안 유지하고 비트 중앙에서 샘플링한다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B25F1-1BA4-4F5D-8EA0-BEE25E1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24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유휴 상태는 Mark이며 시작 비트가 Space로 바뀌면 수신이 시작된다.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데이터는 일반적으로 최하위 비트부터 전송한다.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8N1은 데이터 8비트, 패리티 없음, 정지 비트 1개를 뜻한다.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수신 시점이 비트 경계에 가까우면 클록 오차와 잡음에 민감해진다.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D6BF8-E611-4DFD-A311-AA88C693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000125"/>
            <a:ext cx="54292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AC738-0560-471C-9478-9D045E29B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28e08bd284381"/>
          <a:srcRect xmlns:a="http://schemas.openxmlformats.org/drawingml/2006/main" l="10000" t="23000" r="10000" b="24000"/>
          <a:stretch xmlns:a="http://schemas.openxmlformats.org/drawingml/2006/main"/>
        </p:blipFill>
        <p:spPr>
          <a:xfrm xmlns:a="http://schemas.openxmlformats.org/drawingml/2006/main">
            <a:off x="5857875" y="1143000"/>
            <a:ext cx="5143500" cy="4238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92AD3-D6D5-4E83-A09E-6490EAC9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8.4. 시작 비트와 정지 비트 사이에서 8개 데이터 비트를 일정 간격으로 읽는다.</a:t>
            </a:r>
          </a:p>
        </p:txBody>
      </p:sp>
    </p:spTree>
    <p:extLst>
      <p:ext uri="{BB962C8B-B14F-4D97-AF65-F5344CB8AC3E}">
        <p14:creationId xmlns:p14="http://schemas.microsoft.com/office/powerpoint/2010/main" val="1209326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350C4-4BC4-40B7-A6E9-0BFC9AA3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592FF-33E9-4047-8CE3-35C5FF72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2FE95-A582-48B2-BC6C-E3034A7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1A3DD-296A-499C-BA9E-2BF5D9A0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하드웨어 UART가 없어도 GPIO와 정확한 지연으로 송수신 기능을 만들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1A13E-C16F-48A7-A79A-173DCAE3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송신 루틴은 출력 레벨을 바꾸고 한 비트 시간만큼 기다리는 과정을 반복한다.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수신 루틴은 시작 비트를 찾은 뒤 비트 중앙에서 여덟 번 샘플링한다.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어셈블리 코드는 작고 제어가 정확하지만 클록이 바뀌면 지연값을 다시 계산해야 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C의 putc(), getc(), printf()는 코드를 줄이지만 프로그램 메모리를 더 사용한다.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타이밍이 중요한 수신부는 컴파일러 라이브러리나 하드웨어 UART가 안정적이다.</a:t>
            </a:r>
          </a:p>
        </p:txBody>
      </p:sp>
    </p:spTree>
    <p:extLst>
      <p:ext uri="{BB962C8B-B14F-4D97-AF65-F5344CB8AC3E}">
        <p14:creationId xmlns:p14="http://schemas.microsoft.com/office/powerpoint/2010/main" val="19244592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88FBC-4B72-4CC6-B127-7D07256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2BAF3-A1C8-408A-B649-393E6D7F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7913C-0F69-4C3B-AE10-EF689624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EB4C-5B08-421E-A59E-6CFFDAE8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C, 어셈블리와 BASIC은 같은 통신 기능을 서로 다른 추상화 수준에서 구현한다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EF244-A46C-4908-B3F2-E53871EE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어셈블리: 비트 타이밍과 레지스터를 직접 제어하며 코드가 작다.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C: 통신 라이브러리로 개발 속도와 가독성을 높인다.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PicBasic Pro: SerIn, SerOut, DEBUG 명령으로 빠르게 기능을 검증한다.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소프트웨어 UART는 다른 작업 중 문자를 놓칠 수 있으므로 타임아웃과 폴링 주기를 설계한다.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처리 시간이 부족하면 인터럽트 기반 하드웨어 UART와 송수신 버퍼를 사용한다.</a:t>
            </a:r>
          </a:p>
        </p:txBody>
      </p:sp>
    </p:spTree>
    <p:extLst>
      <p:ext uri="{BB962C8B-B14F-4D97-AF65-F5344CB8AC3E}">
        <p14:creationId xmlns:p14="http://schemas.microsoft.com/office/powerpoint/2010/main" val="541648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4D550-A0C1-4273-99C6-AF4C2E62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FECE8-7455-4CE7-96F4-40110C6B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32D80-8B29-482C-AE46-00993ABC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E8B7B-7EF2-4496-863F-6AB354D0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I²C는 두 개의 오픈드레인 선에서 주소와 클록을 공유하는 버스다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84BE0-08C7-4623-8243-C52D26E6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28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SDA는 데이터, SCL은 클록을 전달한다.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장치는 선을 HIGH로 밀지 않고 LOW로만 끌어내린다.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풀업 저항이 아무도 선을 구동하지 않을 때 HIGH 상태를 만든다.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SCL이 HIGH일 때 SDA가 내려가면 START, 올라가면 STOP이다.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16ACB-4DCA-42BD-9A0E-D112AACD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1500"/>
            <a:ext cx="571500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B0726-833C-4536-BE2F-5FA78C5FBB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4a962f8ca4bd9"/>
          <a:srcRect xmlns:a="http://schemas.openxmlformats.org/drawingml/2006/main" l="8000" t="5000" r="8000" b="20000"/>
          <a:stretch xmlns:a="http://schemas.openxmlformats.org/drawingml/2006/main"/>
        </p:blipFill>
        <p:spPr>
          <a:xfrm xmlns:a="http://schemas.openxmlformats.org/drawingml/2006/main">
            <a:off x="5619750" y="714375"/>
            <a:ext cx="5429250" cy="5048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9BD3-1D11-48B9-895C-6FBF2A2E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Schematic 8.5와 Figure 8.13. 풀업 구조와 START·STOP 조건이 I²C의 기본 전기 규칙을 정의한다.</a:t>
            </a:r>
          </a:p>
        </p:txBody>
      </p:sp>
    </p:spTree>
    <p:extLst>
      <p:ext uri="{BB962C8B-B14F-4D97-AF65-F5344CB8AC3E}">
        <p14:creationId xmlns:p14="http://schemas.microsoft.com/office/powerpoint/2010/main" val="1118760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D321C-7FBB-4D01-8292-59EE7D59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2EE07-4F21-4C61-82EB-26950E2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7EC1D-C1DE-4288-A371-6BDCF10A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3B782-0F66-4264-926E-4E7648DA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wired-AND 구조는 느린 장치의 클록 연장과 여러 마스터의 중재를 가능하게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9955C-C9F4-41B5-A4C3-D13744A0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47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한 장치라도 SCL을 LOW로 유지하면 전체 버스가 LOW가 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슬레이브는 처리 시간이 필요할 때 SCL을 LOW로 잡아 클록을 연장한다.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마스터는 SDA에 쓴 값과 실제 버스 값을 비교해 중재 패배를 감지한다.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7비트 주소 뒤의 최하위 비트가 읽기 또는 쓰기 방향을 결정한다.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A4712-344F-4128-9F93-733DDCC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781050"/>
            <a:ext cx="52863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6C26C5-A306-47E1-AF82-D15A33BB84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7f96489ba41fa"/>
          <a:srcRect xmlns:a="http://schemas.openxmlformats.org/drawingml/2006/main" l="12000" t="5000" r="12000" b="8000"/>
          <a:stretch xmlns:a="http://schemas.openxmlformats.org/drawingml/2006/main"/>
        </p:blipFill>
        <p:spPr>
          <a:xfrm xmlns:a="http://schemas.openxmlformats.org/drawingml/2006/main">
            <a:off x="5905500" y="923925"/>
            <a:ext cx="5000625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EBAC7-6C60-4EDA-8BC8-42D28675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197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8.16. 어느 장치든 LOW를 출력하면 버스 상태도 LOW가 된다.</a:t>
            </a:r>
          </a:p>
        </p:txBody>
      </p:sp>
    </p:spTree>
    <p:extLst>
      <p:ext uri="{BB962C8B-B14F-4D97-AF65-F5344CB8AC3E}">
        <p14:creationId xmlns:p14="http://schemas.microsoft.com/office/powerpoint/2010/main" val="2586432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CFB6C-6A9F-4CE4-9489-E6AFAF27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6B636-9A68-46B0-8D89-A2860318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3ED444-A7F2-4273-94C2-BF147FBC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8189B-129A-4004-90CC-3CE5C3B2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AVR 마스터와 PIC 슬레이브 예제는 주소, 상태 코드와 인터럽트를 하나의 시스템으로 연결한다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5DBF1-966B-4C4F-9307-FBD3F74F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61962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AVR은 START를 만들고 슬레이브 주소와 데이터를 전송한다.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TWI 상태 레지스터로 주소 ACK, 데이터 ACK와 오류를 확인한다.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PIC MSSP는 주소 일치와 각 바이트 전송마다 인터럽트를 발생시킨다.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마지막 수신 바이트에는 NAK를 보내 읽기 세션을 끝낸다.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PC 입력은 RS-232로 AVR에 들어오고 I²C를 통해 PIC 출력 래치로 전달된다.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52768-1FE7-4EA0-83DC-59491537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9625"/>
            <a:ext cx="52863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F9972-52A7-4935-A961-3135DA61B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c982569294ab0"/>
          <a:srcRect xmlns:a="http://schemas.openxmlformats.org/drawingml/2006/main" l="3000" t="4000" r="3000" b="32000"/>
          <a:stretch xmlns:a="http://schemas.openxmlformats.org/drawingml/2006/main"/>
        </p:blipFill>
        <p:spPr>
          <a:xfrm xmlns:a="http://schemas.openxmlformats.org/drawingml/2006/main">
            <a:off x="5953125" y="952500"/>
            <a:ext cx="5000625" cy="4429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F0283-EDD5-4C3B-B020-664EF972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61975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Schematic 8.6. AVR, RS-232 변환기, I²C 풀업과 출력 래치가 결합된 실습 회로다.</a:t>
            </a:r>
          </a:p>
        </p:txBody>
      </p:sp>
    </p:spTree>
    <p:extLst>
      <p:ext uri="{BB962C8B-B14F-4D97-AF65-F5344CB8AC3E}">
        <p14:creationId xmlns:p14="http://schemas.microsoft.com/office/powerpoint/2010/main" val="19670577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0DB58-9B22-4E91-B9C5-FE70731C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7336F-3F9D-4FB5-8281-2A11C38D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06B4D-BB8D-460F-A729-3C884A9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944FF-57DE-4593-BFCD-5D1658CA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SPI는 짧은 거리에서 작은 데이터를 빠르게 주고받는 동기식 인터페이스다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BA5CE-5AEE-4F39-ADCA-A316C332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44767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SCK가 전송 시점을 만들고 SDO·SDI가 양방향 데이터를 운반한다.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CS 또는 SS가 통신할 슬레이브를 선택한다.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클록 극성과 데이터 유효 에지 조합으로 네 가지 모드가 만들어진다.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두 장치가 공통으로 지원하는 모드를 선택해야 한다.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단일 종단 신호이므로 긴 케이블이나 잡음이 많은 환경에는 불리하다.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B4EC7-C3B6-48FA-A26F-0C05F33D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66750"/>
            <a:ext cx="5476875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A075F-0997-455D-8831-1D4515DDC4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f5b006ef84759"/>
          <a:srcRect xmlns:a="http://schemas.openxmlformats.org/drawingml/2006/main" l="4000" t="34000" r="4000" b="14000"/>
          <a:stretch xmlns:a="http://schemas.openxmlformats.org/drawingml/2006/main"/>
        </p:blipFill>
        <p:spPr>
          <a:xfrm xmlns:a="http://schemas.openxmlformats.org/drawingml/2006/main">
            <a:off x="5810250" y="809625"/>
            <a:ext cx="5191125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B2D82-B14F-4A43-8C92-0D120682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7912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8.23. 모드마다 수신기가 데이터를 읽는 클록 에지가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1271235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66B27-175B-42E9-86B2-52545B3B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96A6C-954E-48D4-9354-5BCD1635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C4207-3789-4100-BFF4-6F1411CF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AD1D7-8F62-4C92-A894-22711D5D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CAN은 오류 검출과 우선순위 중재를 하드웨어가 처리하는 다중 노드 버스다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F7899-CE79-4525-AF9B-E474333B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4095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차동 버스와 전용 트랜시버를 사용해 산업 환경에서 높은 신뢰성을 확보한다.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표준 프레임은 11비트 ID, 확장 프레임은 29비트 ID를 사용한다.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 프레임은 최대 8바이트와 CRC, ACK 필드를 포함한다.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컨트롤러가 CRC 생성과 오류 검출을 처리해 CPU 부담을 줄인다.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B9F49-BD79-49F1-B324-F47E75B9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66750"/>
            <a:ext cx="5953125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1E85F2-DBE7-4AF7-AACA-7E4E6D931E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7295cb6194a89"/>
          <a:srcRect xmlns:a="http://schemas.openxmlformats.org/drawingml/2006/main" l="2000" t="28000" r="2000" b="7000"/>
          <a:stretch xmlns:a="http://schemas.openxmlformats.org/drawingml/2006/main"/>
        </p:blipFill>
        <p:spPr>
          <a:xfrm xmlns:a="http://schemas.openxmlformats.org/drawingml/2006/main">
            <a:off x="5334000" y="809625"/>
            <a:ext cx="5667375" cy="481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2B62A-579E-4401-B4C2-6AF45CE3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293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8.24a. ID, 제어, 데이터, CRC와 ACK가 하나의 CAN 데이터 프레임을 구성한다.</a:t>
            </a:r>
          </a:p>
        </p:txBody>
      </p:sp>
    </p:spTree>
    <p:extLst>
      <p:ext uri="{BB962C8B-B14F-4D97-AF65-F5344CB8AC3E}">
        <p14:creationId xmlns:p14="http://schemas.microsoft.com/office/powerpoint/2010/main" val="10998381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65EEC-5E83-472C-ABC9-31F2D8E7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0C331-1EE0-4A11-B368-AA915C9D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8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53337-CB2F-4E7A-890E-8493F21A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3A197-61DC-4CFC-85BF-448842D7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CAN 중재에서는 낮은 ID 값이 높은 우선순위를 얻고 승리 메시지는 손상되지 않는다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1404D-92F6-454E-927F-CA9C3657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382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논리 0은 dominant, 논리 1은 recessive 상태다.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노드가 recessive를 보냈는데 버스가 dominant이면 해당 노드는 전송을 중단한다.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중요한 경보 메시지에 낮은 ID를 할당하면 정상 메시지보다 먼저 전송된다.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Acceptance filter와 mask는 필요한 ID만 수신 버퍼에 저장한다.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필터링은 CPU의 메시지 처리량을 줄이지만 모든 정상 프레임에는 ACK를 응답한다.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6629D-CADD-4BC6-8A49-A7D97862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RS-232에서 익힌 프레임과 타이밍 개념은 I²C, SPI, CAN을 이해하는 기반이 된다.</a:t>
            </a:r>
          </a:p>
        </p:txBody>
      </p:sp>
    </p:spTree>
    <p:extLst>
      <p:ext uri="{BB962C8B-B14F-4D97-AF65-F5344CB8AC3E}">
        <p14:creationId xmlns:p14="http://schemas.microsoft.com/office/powerpoint/2010/main" val="876218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2026-10-07T21:13:25.0670000Z</dcterms:created>
  <dcterms:modified xsi:type="dcterms:W3CDTF">2026-10-07T21:13:25.0670000Z</dcterms:modified>
</coreProperties>
</file>