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bc184efe464401c" /><Relationship Type="http://schemas.openxmlformats.org/officeDocument/2006/relationships/extended-properties" Target="/docProps/app.xml" Id="Rd3d1c727912d4562" /><Relationship Type="http://schemas.openxmlformats.org/officeDocument/2006/relationships/officeDocument" Target="/ppt/presentation.xml" Id="Rd992f950d3744d1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bfd47081db54bf1"/>
  </p:sldMasterIdLst>
  <p:notesMasterIdLst>
    <p:notesMasterId xmlns:r="http://schemas.openxmlformats.org/officeDocument/2006/relationships" r:id="Re13e4f3707f14d49"/>
  </p:notesMasterIdLst>
  <p:sldIdLst>
    <p:sldId xmlns:r="http://schemas.openxmlformats.org/officeDocument/2006/relationships" id="256" r:id="R432a614fc98543fe"/>
    <p:sldId xmlns:r="http://schemas.openxmlformats.org/officeDocument/2006/relationships" id="257" r:id="Rf85874eccc204317"/>
    <p:sldId xmlns:r="http://schemas.openxmlformats.org/officeDocument/2006/relationships" id="258" r:id="R5c1a081ad59c4097"/>
    <p:sldId xmlns:r="http://schemas.openxmlformats.org/officeDocument/2006/relationships" id="259" r:id="R7cf057bd82284ad2"/>
    <p:sldId xmlns:r="http://schemas.openxmlformats.org/officeDocument/2006/relationships" id="260" r:id="R0292ae69a5b44544"/>
    <p:sldId xmlns:r="http://schemas.openxmlformats.org/officeDocument/2006/relationships" id="261" r:id="R67b39b78f8d64464"/>
    <p:sldId xmlns:r="http://schemas.openxmlformats.org/officeDocument/2006/relationships" id="262" r:id="R24c421e222944fd8"/>
    <p:sldId xmlns:r="http://schemas.openxmlformats.org/officeDocument/2006/relationships" id="263" r:id="R9dcc2bff754742b1"/>
    <p:sldId xmlns:r="http://schemas.openxmlformats.org/officeDocument/2006/relationships" id="264" r:id="R8801a03223684aec"/>
    <p:sldId xmlns:r="http://schemas.openxmlformats.org/officeDocument/2006/relationships" id="265" r:id="R78835ab230684d64"/>
    <p:sldId xmlns:r="http://schemas.openxmlformats.org/officeDocument/2006/relationships" id="266" r:id="R0e084bace4f24d57"/>
    <p:sldId xmlns:r="http://schemas.openxmlformats.org/officeDocument/2006/relationships" id="267" r:id="Raf08e8ae599c4fad"/>
    <p:sldId xmlns:r="http://schemas.openxmlformats.org/officeDocument/2006/relationships" id="268" r:id="Rde6dc89706da4eb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44372efb0c8431f" /><Relationship Type="http://schemas.openxmlformats.org/officeDocument/2006/relationships/slideMaster" Target="/ppt/slideMasters/slideMaster1.xml" Id="Rcbfd47081db54bf1" /><Relationship Type="http://schemas.openxmlformats.org/officeDocument/2006/relationships/notesMaster" Target="/ppt/notesMasters/notesMaster1.xml" Id="Re13e4f3707f14d49" /><Relationship Type="http://schemas.openxmlformats.org/officeDocument/2006/relationships/presProps" Target="/ppt/presProps.xml" Id="R6b81fc4ff12245db" /><Relationship Type="http://schemas.openxmlformats.org/officeDocument/2006/relationships/tableStyles" Target="/ppt/tableStyles.xml" Id="R2ab4f6e28b204ba3" /><Relationship Type="http://schemas.openxmlformats.org/officeDocument/2006/relationships/slide" Target="/ppt/slides/slide1.xml" Id="R432a614fc98543fe" /><Relationship Type="http://schemas.openxmlformats.org/officeDocument/2006/relationships/slide" Target="/ppt/slides/slide2.xml" Id="Rf85874eccc204317" /><Relationship Type="http://schemas.openxmlformats.org/officeDocument/2006/relationships/slide" Target="/ppt/slides/slide3.xml" Id="R5c1a081ad59c4097" /><Relationship Type="http://schemas.openxmlformats.org/officeDocument/2006/relationships/slide" Target="/ppt/slides/slide4.xml" Id="R7cf057bd82284ad2" /><Relationship Type="http://schemas.openxmlformats.org/officeDocument/2006/relationships/slide" Target="/ppt/slides/slide5.xml" Id="R0292ae69a5b44544" /><Relationship Type="http://schemas.openxmlformats.org/officeDocument/2006/relationships/slide" Target="/ppt/slides/slide6.xml" Id="R67b39b78f8d64464" /><Relationship Type="http://schemas.openxmlformats.org/officeDocument/2006/relationships/slide" Target="/ppt/slides/slide7.xml" Id="R24c421e222944fd8" /><Relationship Type="http://schemas.openxmlformats.org/officeDocument/2006/relationships/slide" Target="/ppt/slides/slide8.xml" Id="R9dcc2bff754742b1" /><Relationship Type="http://schemas.openxmlformats.org/officeDocument/2006/relationships/slide" Target="/ppt/slides/slide9.xml" Id="R8801a03223684aec" /><Relationship Type="http://schemas.openxmlformats.org/officeDocument/2006/relationships/slide" Target="/ppt/slides/slide10.xml" Id="R78835ab230684d64" /><Relationship Type="http://schemas.openxmlformats.org/officeDocument/2006/relationships/slide" Target="/ppt/slides/slide11.xml" Id="R0e084bace4f24d57" /><Relationship Type="http://schemas.openxmlformats.org/officeDocument/2006/relationships/slide" Target="/ppt/slides/slide12.xml" Id="Raf08e8ae599c4fad" /><Relationship Type="http://schemas.openxmlformats.org/officeDocument/2006/relationships/slide" Target="/ppt/slides/slide13.xml" Id="Rde6dc89706da4eb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c1569f6d8da4cd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7f7b53a40ae4269" /><Relationship Type="http://schemas.openxmlformats.org/officeDocument/2006/relationships/notesMaster" Target="/ppt/notesMasters/notesMaster1.xml" Id="R33e2d2cac7584d4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99178814e194a80" /><Relationship Type="http://schemas.openxmlformats.org/officeDocument/2006/relationships/notesMaster" Target="/ppt/notesMasters/notesMaster1.xml" Id="R3b6b39b3e1064f7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11ed475db5a4130" /><Relationship Type="http://schemas.openxmlformats.org/officeDocument/2006/relationships/notesMaster" Target="/ppt/notesMasters/notesMaster1.xml" Id="R5511ff94c3534d2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df1d7747f0c4b24" /><Relationship Type="http://schemas.openxmlformats.org/officeDocument/2006/relationships/notesMaster" Target="/ppt/notesMasters/notesMaster1.xml" Id="R893562b5e7da4e0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b447063e3ff45ff" /><Relationship Type="http://schemas.openxmlformats.org/officeDocument/2006/relationships/notesMaster" Target="/ppt/notesMasters/notesMaster1.xml" Id="R8c08780a74c94b4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a0482c833354438" /><Relationship Type="http://schemas.openxmlformats.org/officeDocument/2006/relationships/notesMaster" Target="/ppt/notesMasters/notesMaster1.xml" Id="R4042a527cdb1492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770b09ff4ef4eba" /><Relationship Type="http://schemas.openxmlformats.org/officeDocument/2006/relationships/notesMaster" Target="/ppt/notesMasters/notesMaster1.xml" Id="R5567bc72cddf4d6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a0c7070c14e4e52" /><Relationship Type="http://schemas.openxmlformats.org/officeDocument/2006/relationships/notesMaster" Target="/ppt/notesMasters/notesMaster1.xml" Id="R6d1786f5cc38446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4702481581149cd" /><Relationship Type="http://schemas.openxmlformats.org/officeDocument/2006/relationships/notesMaster" Target="/ppt/notesMasters/notesMaster1.xml" Id="R9b7b28701007441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8f844521e6a490c" /><Relationship Type="http://schemas.openxmlformats.org/officeDocument/2006/relationships/notesMaster" Target="/ppt/notesMasters/notesMaster1.xml" Id="R6a5022aa6516405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1fe792b1fa04802" /><Relationship Type="http://schemas.openxmlformats.org/officeDocument/2006/relationships/notesMaster" Target="/ppt/notesMasters/notesMaster1.xml" Id="R2b895765035b4c5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4f64446f3af43b5" /><Relationship Type="http://schemas.openxmlformats.org/officeDocument/2006/relationships/notesMaster" Target="/ppt/notesMasters/notesMaster1.xml" Id="R5ccbb9ee2aab414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24e40073b1b439b" /><Relationship Type="http://schemas.openxmlformats.org/officeDocument/2006/relationships/notesMaster" Target="/ppt/notesMasters/notesMaster1.xml" Id="R2da5920ff7e6447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/Users/winnerkorea/Downloads/Embedded Hardware_ Know It All ( PDFDrive ).pdf</a:t>
            </a:r>
          </a:p>
          <a:p xmlns:a="http://schemas.openxmlformats.org/drawingml/2006/main">
            <a:r>
              <a:t>Chapter 9, pp. 389-390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/Users/winnerkorea/Downloads/Embedded Hardware_ Know It All ( PDFDrive ).pdf</a:t>
            </a:r>
          </a:p>
          <a:p xmlns:a="http://schemas.openxmlformats.org/drawingml/2006/main">
            <a:r>
              <a:t>Chapter 9, pp. 389-392, Table 9.1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/Users/winnerkorea/Downloads/Embedded Hardware_ Know It All ( PDFDrive ).pdf</a:t>
            </a:r>
          </a:p>
          <a:p xmlns:a="http://schemas.openxmlformats.org/drawingml/2006/main">
            <a:r>
              <a:t>Chapter 9, pp. 392-398, Figure 9.5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/Users/winnerkorea/Downloads/Embedded Hardware_ Know It All ( PDFDrive ).pdf</a:t>
            </a:r>
          </a:p>
          <a:p xmlns:a="http://schemas.openxmlformats.org/drawingml/2006/main">
            <a:r>
              <a:t>Chapter 9, pp. 397-399, Figure 9.6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/Users/winnerkorea/Downloads/Embedded Hardware_ Know It All ( PDFDrive ).pdf</a:t>
            </a:r>
          </a:p>
          <a:p xmlns:a="http://schemas.openxmlformats.org/drawingml/2006/main">
            <a:r>
              <a:t>Chapter 9, pp. 398-402, Figure 9.7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/Users/winnerkorea/Downloads/Embedded Hardware_ Know It All ( PDFDrive ).pdf</a:t>
            </a:r>
          </a:p>
          <a:p xmlns:a="http://schemas.openxmlformats.org/drawingml/2006/main">
            <a:r>
              <a:t>Chapter 9, pp. 402-404, Figure 9.8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/Users/winnerkorea/Downloads/Embedded Hardware_ Know It All ( PDFDrive ).pdf</a:t>
            </a:r>
          </a:p>
          <a:p xmlns:a="http://schemas.openxmlformats.org/drawingml/2006/main">
            <a:r>
              <a:t>Chapter 9, pp. 404-409, Figure 9.9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/Users/winnerkorea/Downloads/Embedded Hardware_ Know It All ( PDFDrive ).pdf</a:t>
            </a:r>
          </a:p>
          <a:p xmlns:a="http://schemas.openxmlformats.org/drawingml/2006/main">
            <a:r>
              <a:t>Chapter 9, pp. 409-411, Table 9.2 and Figure 9.11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/Users/winnerkorea/Downloads/Embedded Hardware_ Know It All ( PDFDrive ).pdf</a:t>
            </a:r>
          </a:p>
          <a:p xmlns:a="http://schemas.openxmlformats.org/drawingml/2006/main">
            <a:r>
              <a:t>Chapter 9, pp. 411-417, Figure 9.12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/Users/winnerkorea/Downloads/Embedded Hardware_ Know It All ( PDFDrive ).pdf</a:t>
            </a:r>
          </a:p>
          <a:p xmlns:a="http://schemas.openxmlformats.org/drawingml/2006/main">
            <a:r>
              <a:t>Chapter 9, pp. 417-418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/Users/winnerkorea/Downloads/Embedded Hardware_ Know It All ( PDFDrive ).pdf</a:t>
            </a:r>
          </a:p>
          <a:p xmlns:a="http://schemas.openxmlformats.org/drawingml/2006/main">
            <a:r>
              <a:t>Chapter 9, pp. 418-420, Figure 9.14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/Users/winnerkorea/Downloads/Embedded Hardware_ Know It All ( PDFDrive ).pdf</a:t>
            </a:r>
          </a:p>
          <a:p xmlns:a="http://schemas.openxmlformats.org/drawingml/2006/main">
            <a:r>
              <a:t>Chapter 9, pp. 420-427, Figure 9.15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/Users/winnerkorea/Downloads/Embedded Hardware_ Know It All ( PDFDrive ).pdf</a:t>
            </a:r>
          </a:p>
          <a:p xmlns:a="http://schemas.openxmlformats.org/drawingml/2006/main">
            <a:r>
              <a:t>Chapter 9, pp. 428-435, Figure 9.16 and Table 9.3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4140462ab0456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883b540232484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d26c66ccfd4c0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c6e2eb7bc5478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06dd3f11134de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47fcdde0fc47b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295F8E8-8318-484B-AFE0-155CDC166E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702A897-40E4-4DCB-AD50-5E4B26669C3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4B9A861-60BB-4249-8619-10B8CF58A50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81AAAEE-77EE-4D69-8C68-A95B65E70FF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CD17584-EE05-4E08-8E0C-6D1EB8DC4A3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ECED915-D4BA-4620-9C81-DDFFD2F0E0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A8B37E6-3879-4A44-A34D-01B067D3545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49AFDE0-E79A-4D19-A267-0D97C7739D2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D8B38DB-B9EB-4D7F-83E0-1103C6424FD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A413652-91BB-4E6F-8001-CBD7649DDF9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d50edf55f3d4cc1" /><Relationship Type="http://schemas.openxmlformats.org/officeDocument/2006/relationships/slideLayout" Target="/ppt/slideLayouts/slideLayout1.xml" Id="R0a6f59af7b684170" /><Relationship Type="http://schemas.openxmlformats.org/officeDocument/2006/relationships/slideLayout" Target="/ppt/slideLayouts/slideLayout2.xml" Id="R175acf0f18c14134" /><Relationship Type="http://schemas.openxmlformats.org/officeDocument/2006/relationships/slideLayout" Target="/ppt/slideLayouts/slideLayout3.xml" Id="Rc4337f302c854b20" /><Relationship Type="http://schemas.openxmlformats.org/officeDocument/2006/relationships/slideLayout" Target="/ppt/slideLayouts/slideLayout4.xml" Id="R36a3d32b06034046" /><Relationship Type="http://schemas.openxmlformats.org/officeDocument/2006/relationships/slideLayout" Target="/ppt/slideLayouts/slideLayout5.xml" Id="R8655bb51bb8547f6" /><Relationship Type="http://schemas.openxmlformats.org/officeDocument/2006/relationships/slideLayout" Target="/ppt/slideLayouts/slideLayout6.xml" Id="R0ec9b6d1d18d45f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a6f59af7b684170"/>
    <p:sldLayoutId xmlns:r="http://schemas.openxmlformats.org/officeDocument/2006/relationships" id="2147483650" r:id="R175acf0f18c14134"/>
    <p:sldLayoutId xmlns:r="http://schemas.openxmlformats.org/officeDocument/2006/relationships" id="2147483651" r:id="Rc4337f302c854b20"/>
    <p:sldLayoutId xmlns:r="http://schemas.openxmlformats.org/officeDocument/2006/relationships" id="2147483652" r:id="R36a3d32b06034046"/>
    <p:sldLayoutId xmlns:r="http://schemas.openxmlformats.org/officeDocument/2006/relationships" id="2147483653" r:id="R8655bb51bb8547f6"/>
    <p:sldLayoutId xmlns:r="http://schemas.openxmlformats.org/officeDocument/2006/relationships" id="2147483654" r:id="R0ec9b6d1d18d45f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57927c6f314735" /><Relationship Type="http://schemas.openxmlformats.org/officeDocument/2006/relationships/notesSlide" Target="/ppt/notesSlides/notesSlide1.xml" Id="R0439bb1f9fe3477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6fa171b0f540bb" /><Relationship Type="http://schemas.openxmlformats.org/officeDocument/2006/relationships/notesSlide" Target="/ppt/notesSlides/notesSlide2.xml" Id="R149400efde68431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03619b5e18402a" /><Relationship Type="http://schemas.openxmlformats.org/officeDocument/2006/relationships/image" Target="/ppt/media/image.png" Id="R74ad76950509468f" /><Relationship Type="http://schemas.openxmlformats.org/officeDocument/2006/relationships/notesSlide" Target="/ppt/notesSlides/notesSlide3.xml" Id="R63031cf8aa8f417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a5f515a72bd4d00" /><Relationship Type="http://schemas.openxmlformats.org/officeDocument/2006/relationships/image" Target="/ppt/media/image2.png" Id="R4953d94127e94c14" /><Relationship Type="http://schemas.openxmlformats.org/officeDocument/2006/relationships/notesSlide" Target="/ppt/notesSlides/notesSlide4.xml" Id="R9ac0b60dc51a452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0581e5c24f4379" /><Relationship Type="http://schemas.openxmlformats.org/officeDocument/2006/relationships/image" Target="/ppt/media/image3.png" Id="R0855341514314b27" /><Relationship Type="http://schemas.openxmlformats.org/officeDocument/2006/relationships/notesSlide" Target="/ppt/notesSlides/notesSlide5.xml" Id="R393e78dbac5a496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212a39a180469b" /><Relationship Type="http://schemas.openxmlformats.org/officeDocument/2006/relationships/image" Target="/ppt/media/image4.png" Id="R9cc35409df3e4a01" /><Relationship Type="http://schemas.openxmlformats.org/officeDocument/2006/relationships/notesSlide" Target="/ppt/notesSlides/notesSlide6.xml" Id="R7a887e9f0ed74c5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1501bbeb2e4a60" /><Relationship Type="http://schemas.openxmlformats.org/officeDocument/2006/relationships/image" Target="/ppt/media/image5.png" Id="R3dfd380d4f524d48" /><Relationship Type="http://schemas.openxmlformats.org/officeDocument/2006/relationships/notesSlide" Target="/ppt/notesSlides/notesSlide7.xml" Id="Rb09e0bcb2c144fc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bb5c4af97d42f5" /><Relationship Type="http://schemas.openxmlformats.org/officeDocument/2006/relationships/image" Target="/ppt/media/image6.png" Id="R57ac089bf3d348ff" /><Relationship Type="http://schemas.openxmlformats.org/officeDocument/2006/relationships/notesSlide" Target="/ppt/notesSlides/notesSlide8.xml" Id="R4117ff0a07404e0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308812bdf44bff" /><Relationship Type="http://schemas.openxmlformats.org/officeDocument/2006/relationships/image" Target="/ppt/media/image7.png" Id="Raa1dd46ea4734add" /><Relationship Type="http://schemas.openxmlformats.org/officeDocument/2006/relationships/notesSlide" Target="/ppt/notesSlides/notesSlide9.xml" Id="R6939f4b2b17b4c0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07dcf99c5b4895" /><Relationship Type="http://schemas.openxmlformats.org/officeDocument/2006/relationships/notesSlide" Target="/ppt/notesSlides/notesSlide10.xml" Id="Rfc816c5bb2a74e0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8dfc5b76fd49b4" /><Relationship Type="http://schemas.openxmlformats.org/officeDocument/2006/relationships/image" Target="/ppt/media/image8.png" Id="Rd8ad00d758e249bd" /><Relationship Type="http://schemas.openxmlformats.org/officeDocument/2006/relationships/notesSlide" Target="/ppt/notesSlides/notesSlide11.xml" Id="R98f1f737ed1644c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6abe8afe5f49d0" /><Relationship Type="http://schemas.openxmlformats.org/officeDocument/2006/relationships/image" Target="/ppt/media/image9.png" Id="Rd057a75ce91f4307" /><Relationship Type="http://schemas.openxmlformats.org/officeDocument/2006/relationships/notesSlide" Target="/ppt/notesSlides/notesSlide12.xml" Id="R7287c098da36492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1b7d5cba194bf6" /><Relationship Type="http://schemas.openxmlformats.org/officeDocument/2006/relationships/image" Target="/ppt/media/image10.png" Id="R332b4c232d924e4e" /><Relationship Type="http://schemas.openxmlformats.org/officeDocument/2006/relationships/notesSlide" Target="/ppt/notesSlides/notesSlide13.xml" Id="R1dd71b480a00497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F9B594-FCD9-45D7-8F3B-3937ABA16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6667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F375A8-E75C-4F6E-8A8B-D715613FB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008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rPr>
              <a:t>CHAPTER 9  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EBF64A-DF66-4E9C-B393-789C353B5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008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rPr>
              <a:t>Embedded Hardware: Know It All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C31BF7-39F8-4480-A08D-700CB6A68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504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rPr>
              <a:t>센서와 액추에이터 인터페이스는 논리 기능보다 전기적 스트레스를 먼저 다룬다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6E252F-1359-4BF3-9A71-91CEF5EED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104775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marL="228600" indent="-114300">
              <a:spcAft>
                <a:spcPts val="1400"/>
              </a:spcAft>
              <a:buChar char="•"/>
              <a:defRPr sz="16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3.3 V와 5 V 사이의 논리 임계값과 입력 내압을 확인한다.</a:t>
            </a:r>
          </a:p>
          <a:p xmlns:a="http://schemas.openxmlformats.org/drawingml/2006/main">
            <a:pPr marL="228600" indent="-114300">
              <a:spcAft>
                <a:spcPts val="1400"/>
              </a:spcAft>
              <a:buChar char="•"/>
              <a:defRPr sz="16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외부 배선에서 들어오는 ESD와 서지가 MCU 핀에 도달하기 전에 우회시킨다.</a:t>
            </a:r>
          </a:p>
          <a:p xmlns:a="http://schemas.openxmlformats.org/drawingml/2006/main">
            <a:pPr marL="228600" indent="-114300">
              <a:spcAft>
                <a:spcPts val="1400"/>
              </a:spcAft>
              <a:buChar char="•"/>
              <a:defRPr sz="16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부족한 디지털 I/O는 버퍼, 멀티플렉서, 래치와 시프트 레지스터로 확장한다.</a:t>
            </a:r>
          </a:p>
          <a:p xmlns:a="http://schemas.openxmlformats.org/drawingml/2006/main">
            <a:pPr marL="228600" indent="-114300">
              <a:spcAft>
                <a:spcPts val="1400"/>
              </a:spcAft>
              <a:buChar char="•"/>
              <a:defRPr sz="16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릴레이, 모터와 솔레노이드는 전류 증폭과 유도성 에너지 처리가 필요하다.</a:t>
            </a:r>
          </a:p>
          <a:p xmlns:a="http://schemas.openxmlformats.org/drawingml/2006/main">
            <a:pPr marL="228600" indent="-114300">
              <a:spcAft>
                <a:spcPts val="1400"/>
              </a:spcAft>
              <a:buChar char="•"/>
              <a:defRPr sz="16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ADC 성능은 변환기 한 개가 아니라 전체 데이터 수집 채널로 측정한다.</a:t>
            </a:r>
          </a:p>
        </p:txBody>
      </p:sp>
    </p:spTree>
    <p:extLst>
      <p:ext uri="{BB962C8B-B14F-4D97-AF65-F5344CB8AC3E}">
        <p14:creationId xmlns:p14="http://schemas.microsoft.com/office/powerpoint/2010/main" val="108180152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A19B16-34C3-4B25-B1AE-AFE161597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6667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B9B0A9-4076-4D0D-81FA-E244D6FAE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008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rPr>
              <a:t>CHAPTER 9  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3CBD07-0E1E-44F1-9548-1B9B975A5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008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rPr>
              <a:t>Embedded Hardware: Know It All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B4E3A5-2304-46E3-8764-D885A94BA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72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rPr>
              <a:t>3.3 V 출력이 5 V 입력을 구동할 때 HIGH 임계값이 가장 흔한 실패 원인이다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A1F858-C95B-4FD9-858B-008EE9BFF7B2}"/>
              </a:ext>
            </a:extLst>
          </p:cNvPr>
          <p:cNvGraphicFramePr/>
          <p:nvPr/>
        </p:nvGraphicFramePr>
        <p:xfrm>
          <a:off xmlns:a="http://schemas.openxmlformats.org/drawingml/2006/main" x="857250" y="1285875"/>
          <a:ext xmlns:a="http://schemas.openxmlformats.org/drawingml/2006/main" cx="102870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3429000"/>
                <a:gridCol w="3429000"/>
              </a:tblGrid>
              <a:tr h="571500">
                <a:tc>
                  <a:txBody>
                    <a:bodyPr/>
                    <a:lstStyle/>
                    <a:p>
                      <a:r>
                        <a:t>입력 로직 계열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VIH 최소값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3.3 V 출력과의 관계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HC / VHC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0.7 × VCC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5 V 공급 시 3.5 V가 필요하므로 규격상 불충분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HCT / VHCT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2.0 V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3.3 V CMOS 출력과 호환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LVT / LVX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2.0 V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공급 전압과 무관한 임계값으로 사용 가능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5 V tolerant 입력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제품별 확인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5 V 출력이 3.3 V 장치를 손상시키지 않도록 설계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A45609-213B-4378-BECF-7CBF55A3A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524375"/>
            <a:ext cx="10001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0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3.3 V 입력에 5 V를 가할 때는 입력의 5 V tolerance와 내부 보호 다이오드를 확인한다.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0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실온에서 동작하는 조합도 온도와 부품 편차에서 노이즈 마진을 잃을 수 있다.</a:t>
            </a:r>
          </a:p>
        </p:txBody>
      </p:sp>
    </p:spTree>
    <p:extLst>
      <p:ext uri="{BB962C8B-B14F-4D97-AF65-F5344CB8AC3E}">
        <p14:creationId xmlns:p14="http://schemas.microsoft.com/office/powerpoint/2010/main" val="171379518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97D183-7448-4BCC-A042-7521A4F7A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6667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8775F4-6CCC-4601-82A1-0E1DD449E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008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rPr>
              <a:t>CHAPTER 9  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CD63B9-C9C4-4FD8-B373-E6EBD5116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008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rPr>
              <a:t>Embedded Hardware: Know It All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11AD74-A7AD-4AED-8365-692E56AC5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504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rPr>
              <a:t>보호소자는 처리 에너지와 반응 속도가 달라 여러 단계를 조합해야 한다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3C328A-6B54-4ABB-A1E3-5C24EA4A3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66875"/>
            <a:ext cx="428625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marL="228600" indent="-114300">
              <a:spcAft>
                <a:spcPts val="1100"/>
              </a:spcAft>
              <a:buChar char="•"/>
              <a:defRPr sz="142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GDT는 큰 서지 에너지를 처리하지만 반응이 느리다.</a:t>
            </a:r>
          </a:p>
          <a:p xmlns:a="http://schemas.openxmlformats.org/drawingml/2006/main">
            <a:pPr marL="228600" indent="-114300">
              <a:spcAft>
                <a:spcPts val="1100"/>
              </a:spcAft>
              <a:buChar char="•"/>
              <a:defRPr sz="142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MOV는 전력선 과도전압에 적합하고 TVS는 빠른 ESD 억제에 적합하다.</a:t>
            </a:r>
          </a:p>
          <a:p xmlns:a="http://schemas.openxmlformats.org/drawingml/2006/main">
            <a:pPr marL="228600" indent="-114300">
              <a:spcAft>
                <a:spcPts val="1100"/>
              </a:spcAft>
              <a:buChar char="•"/>
              <a:defRPr sz="142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직렬 저항은 보호 다이오드 전류를 제한하고 입력 용량과 저역통과 필터를 만든다.</a:t>
            </a:r>
          </a:p>
          <a:p xmlns:a="http://schemas.openxmlformats.org/drawingml/2006/main">
            <a:pPr marL="228600" indent="-114300">
              <a:spcAft>
                <a:spcPts val="1100"/>
              </a:spcAft>
              <a:buChar char="•"/>
              <a:defRPr sz="142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5 V tolerant 입력은 상단 보호 다이오드가 없을 수 있으므로 외부 보호 경로가 필요하다.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A45748-E423-412E-9686-C99ACA027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523875"/>
            <a:ext cx="5619750" cy="561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7"/>
            </a:solidFill>
            <a:prstDash val="solid"/>
          </a:ln>
        </p:spPr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C1353C-5AD1-4BE6-856A-3A2A880F6F9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ad76950509468f"/>
          <a:srcRect xmlns:a="http://schemas.openxmlformats.org/drawingml/2006/main" l="14000" t="11000" r="14000" b="8000"/>
          <a:stretch xmlns:a="http://schemas.openxmlformats.org/drawingml/2006/main"/>
        </p:blipFill>
        <p:spPr>
          <a:xfrm xmlns:a="http://schemas.openxmlformats.org/drawingml/2006/main">
            <a:off x="5619750" y="666750"/>
            <a:ext cx="5334000" cy="528637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5188EC-6FD7-4C2A-B5B9-53CEE1B3B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953125"/>
            <a:ext cx="552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rPr>
              <a:t>Figure 9.5. 내부 보호 다이오드는 ESD를 막지만 혼합 전압 시스템에서는 과전류 경로가 될 수 있다.</a:t>
            </a:r>
          </a:p>
        </p:txBody>
      </p:sp>
    </p:spTree>
    <p:extLst>
      <p:ext uri="{BB962C8B-B14F-4D97-AF65-F5344CB8AC3E}">
        <p14:creationId xmlns:p14="http://schemas.microsoft.com/office/powerpoint/2010/main" val="3892589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C2399A-0BE1-41A1-8C2F-C826AFD33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6667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1B9F93-E9C5-4A0B-A809-3D739632A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008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rPr>
              <a:t>CHAPTER 9  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821449-4A5A-4F33-A664-D5F36FA11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008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rPr>
              <a:t>Embedded Hardware: Know It All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1A4E7B-7EF4-4665-9C70-5E4365976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504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rPr>
              <a:t>좋은 보호회로도 PCB에서 방전 경로를 잘못 배치하면 우회된다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B62C46-C323-4ED9-B5B2-165C499F6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66875"/>
            <a:ext cx="447675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marL="228600" indent="-114300">
              <a:spcAft>
                <a:spcPts val="1300"/>
              </a:spcAft>
              <a:buChar char="•"/>
              <a:defRPr sz="150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커넥터에서 들어온 과도전압은 가장 짧은 경로로 보호소자와 접지에 전달한다.</a:t>
            </a:r>
          </a:p>
          <a:p xmlns:a="http://schemas.openxmlformats.org/drawingml/2006/main">
            <a:pPr marL="228600" indent="-114300">
              <a:spcAft>
                <a:spcPts val="1300"/>
              </a:spcAft>
              <a:buChar char="•"/>
              <a:defRPr sz="150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보호 전·후 신호 패턴을 가깝게 평행 배치하지 않는다.</a:t>
            </a:r>
          </a:p>
          <a:p xmlns:a="http://schemas.openxmlformats.org/drawingml/2006/main">
            <a:pPr marL="228600" indent="-114300">
              <a:spcAft>
                <a:spcPts val="1300"/>
              </a:spcAft>
              <a:buChar char="•"/>
              <a:defRPr sz="150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층간 비아가 너무 가까우면 ESD가 보호망을 건너뛸 수 있다.</a:t>
            </a:r>
          </a:p>
          <a:p xmlns:a="http://schemas.openxmlformats.org/drawingml/2006/main">
            <a:pPr marL="228600" indent="-114300">
              <a:spcAft>
                <a:spcPts val="1300"/>
              </a:spcAft>
              <a:buChar char="•"/>
              <a:defRPr sz="150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패턴 간격과 귀환 경로는 부품 정격만큼 중요한 보호 설계 요소다.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B382F0-A86F-4209-98F0-65973E33F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1047750"/>
            <a:ext cx="51911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7"/>
            </a:solidFill>
            <a:prstDash val="solid"/>
          </a:ln>
        </p:spPr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AEEF00-12CA-4AE4-9D98-DCE282FAA06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53d94127e94c14"/>
          <a:srcRect xmlns:a="http://schemas.openxmlformats.org/drawingml/2006/main" l="10000" t="5000" r="10000" b="55000"/>
          <a:stretch xmlns:a="http://schemas.openxmlformats.org/drawingml/2006/main"/>
        </p:blipFill>
        <p:spPr>
          <a:xfrm xmlns:a="http://schemas.openxmlformats.org/drawingml/2006/main">
            <a:off x="5905500" y="1190625"/>
            <a:ext cx="4905375" cy="338137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8D1DDB-3CCD-49DE-B29C-39FFFFF3F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953000"/>
            <a:ext cx="5095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rPr>
              <a:t>Figure 9.6. 보호된 신호와 보호 전 신호 사이의 비아 간격이 좁으면 아크가 발생할 수 있다.</a:t>
            </a:r>
          </a:p>
        </p:txBody>
      </p:sp>
    </p:spTree>
    <p:extLst>
      <p:ext uri="{BB962C8B-B14F-4D97-AF65-F5344CB8AC3E}">
        <p14:creationId xmlns:p14="http://schemas.microsoft.com/office/powerpoint/2010/main" val="4374932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75ADD8-1052-424E-88DD-C37BC8832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6667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D49D8A-F25D-4BE8-9B79-08AF66FE9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008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rPr>
              <a:t>CHAPTER 9  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205437-C13E-4917-8A84-02BE80B88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008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rPr>
              <a:t>Embedded Hardware: Know It All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DF947D-8E93-4855-A997-04A02EBBD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504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rPr>
              <a:t>디지털 입력 확장 방식은 핀 수보다 버스 부하와 동시 샘플링 요구로 선택한다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275BB9-116B-47D2-9208-1D436BC24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66875"/>
            <a:ext cx="4048125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42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74HC244는 간단하지만 각 출력의 용량이 데이터 버스에 누적된다.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42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74HC257은 여러 입력을 선택해 입력당 버스 부하를 줄인다.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42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74HC574는 16개 이상의 입력을 같은 순간에 캡처할 수 있다.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42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74HC597 체인은 한 데이터 비트로 많은 입력을 직렬 수집한다.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64AEFF-D2DB-40B0-8A53-5ECE119BD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523875"/>
            <a:ext cx="6000750" cy="561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7"/>
            </a:solidFill>
            <a:prstDash val="solid"/>
          </a:ln>
        </p:spPr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AE6F99-3570-41ED-B45C-54F014ACB58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55341514314b27"/>
          <a:srcRect xmlns:a="http://schemas.openxmlformats.org/drawingml/2006/main" l="3000" t="4000" r="3000" b="8000"/>
          <a:stretch xmlns:a="http://schemas.openxmlformats.org/drawingml/2006/main"/>
        </p:blipFill>
        <p:spPr>
          <a:xfrm xmlns:a="http://schemas.openxmlformats.org/drawingml/2006/main">
            <a:off x="5238750" y="666750"/>
            <a:ext cx="5715000" cy="528637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126E91-2C13-4FB5-A692-C68A1DF73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972175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rPr>
              <a:t>Figure 9.7. 버퍼, 멀티플렉서, 래치와 시프트 체인은 서로 다른 I/O 확장 조건을 해결한다.</a:t>
            </a:r>
          </a:p>
        </p:txBody>
      </p:sp>
    </p:spTree>
    <p:extLst>
      <p:ext uri="{BB962C8B-B14F-4D97-AF65-F5344CB8AC3E}">
        <p14:creationId xmlns:p14="http://schemas.microsoft.com/office/powerpoint/2010/main" val="207877886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EE3AF3-58BA-43F4-8EF3-8BFB379D4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6667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9E22F1-8E0B-4326-B54D-E52817C3B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008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rPr>
              <a:t>CHAPTER 9  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FC68C4-1C47-45BB-96D8-8CB42E3C1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008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rPr>
              <a:t>Embedded Hardware: Know It All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B45A75-5994-49AB-9439-2338FB952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504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rPr>
              <a:t>디지털 출력 확장에서는 리셋 직후의 출력 상태와 단락 보호가 추가로 필요하다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2B4C45-45D9-4D11-A180-B2AE2782F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66875"/>
            <a:ext cx="409575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42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74HC574는 외부 출력 인에이블과 저항으로 초기 HIGH·LOW를 선택한다.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42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74HC273은 CLR 신호로 모든 출력을 0으로 초기화한다.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42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74HC259는 한 데이터 비트와 주소선으로 특정 출력만 갱신한다.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42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74HC594/595는 직렬 데이터를 여러 병렬 출력으로 확장한다.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F94D7A-1B33-40D7-84BF-179847C47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71500"/>
            <a:ext cx="5905500" cy="542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7"/>
            </a:solidFill>
            <a:prstDash val="solid"/>
          </a:ln>
        </p:spPr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0704BF-4472-4A58-A58E-EC51096BF2A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c35409df3e4a01"/>
          <a:srcRect xmlns:a="http://schemas.openxmlformats.org/drawingml/2006/main" l="3000" t="5000" r="3000" b="18000"/>
          <a:stretch xmlns:a="http://schemas.openxmlformats.org/drawingml/2006/main"/>
        </p:blipFill>
        <p:spPr>
          <a:xfrm xmlns:a="http://schemas.openxmlformats.org/drawingml/2006/main">
            <a:off x="5286375" y="714375"/>
            <a:ext cx="5619750" cy="509587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B78E77-CFAD-46FF-BAAD-E9BA0AD02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6019800"/>
            <a:ext cx="581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rPr>
              <a:t>Figure 9.8. 출력 유지 방식, 리셋 기능과 버스 부하가 회로 선택을 결정한다.</a:t>
            </a:r>
          </a:p>
        </p:txBody>
      </p:sp>
    </p:spTree>
    <p:extLst>
      <p:ext uri="{BB962C8B-B14F-4D97-AF65-F5344CB8AC3E}">
        <p14:creationId xmlns:p14="http://schemas.microsoft.com/office/powerpoint/2010/main" val="172988908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A93617-34AB-49E7-B951-3310C11C3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6667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FDF7CD-E09B-494E-8CE8-F93ED667F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008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rPr>
              <a:t>CHAPTER 9  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1830B4-3D1B-4313-8EF8-43418F738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008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rPr>
              <a:t>Embedded Hardware: Know It All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1C5CBC-06AB-4832-9B13-947EE1D17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504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rPr>
              <a:t>BJT 드라이버는 부하 전류뿐 아니라 베이스 전류와 포화 발열을 계산해야 한다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0EB3F3-82DF-408A-A424-C35D774BA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71625"/>
            <a:ext cx="43815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3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스위칭 포화 상태의 전류이득은 증폭 영역보다 훨씬 작게 잡는다.</a:t>
            </a:r>
          </a:p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3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500 mA 부하에서 강제 β를 10으로 잡으면 약 50 mA의 베이스 전류가 필요하다.</a:t>
            </a:r>
          </a:p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3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트랜지스터 손실은 VCE(sat) × IC와 VBE × IB를 합산한다.</a:t>
            </a:r>
          </a:p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3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고전압 PNP 구동은 베이스 저항에서 V²/R 발열이 크게 증가한다.</a:t>
            </a:r>
          </a:p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3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ULN2803 같은 다채널 Darlington은 편리하지만 출력 전압강하가 크다.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6F11C7-C56D-4BAD-9419-6946A5A96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809625"/>
            <a:ext cx="552450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7"/>
            </a:solidFill>
            <a:prstDash val="solid"/>
          </a:ln>
        </p:spPr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90698E-078B-4929-BA21-519C3A2A79E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fd380d4f524d48"/>
          <a:srcRect xmlns:a="http://schemas.openxmlformats.org/drawingml/2006/main" l="3000" t="5000" r="3000" b="39000"/>
          <a:stretch xmlns:a="http://schemas.openxmlformats.org/drawingml/2006/main"/>
        </p:blipFill>
        <p:spPr>
          <a:xfrm xmlns:a="http://schemas.openxmlformats.org/drawingml/2006/main">
            <a:off x="5715000" y="952500"/>
            <a:ext cx="5238750" cy="44291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B36FEF-F22C-405F-A954-260462652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619750"/>
            <a:ext cx="542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rPr>
              <a:t>Figure 9.9. 단일 저측 드라이버와 2단 고측 드라이버 모두 전류와 열 계산이 필요하다.</a:t>
            </a:r>
          </a:p>
        </p:txBody>
      </p:sp>
    </p:spTree>
    <p:extLst>
      <p:ext uri="{BB962C8B-B14F-4D97-AF65-F5344CB8AC3E}">
        <p14:creationId xmlns:p14="http://schemas.microsoft.com/office/powerpoint/2010/main" val="190751816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6ECB36-B5AD-4D82-A8FF-E2EB2E1AF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6667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29AF65-953A-4C12-B30C-7C361ECE3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008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rPr>
              <a:t>CHAPTER 9  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2B01FC-58AD-4EEB-A550-08CB33992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008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rPr>
              <a:t>Embedded Hardware: Know It All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4A1F75-67E6-4EB7-AFB6-19E025DEF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504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rPr>
              <a:t>MOSFET은 낮은 도통 저항과 작은 구동 전류로 더 큰 부하를 효율적으로 스위칭한다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AF0630-59B0-4031-858F-A4B18B4BD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71625"/>
            <a:ext cx="4429125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3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로직 레벨에서 지정된 RDS(on)을 확인해야 완전히 켜지는지 판단할 수 있다.</a:t>
            </a:r>
          </a:p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3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게이트의 지속 전류는 작지만 충방전 전류와 스위칭 속도는 고려해야 한다.</a:t>
            </a:r>
          </a:p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3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VGS 최대 정격은 보통 약 20 V이므로 제너 다이오드 등으로 제한한다.</a:t>
            </a:r>
          </a:p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3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데이터시트의 최대 드레인 전류는 이상적인 냉각 조건일 수 있다.</a:t>
            </a:r>
          </a:p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3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ESD와 과도전압에 민감하므로 게이트 보호와 PCB 배치를 함께 설계한다.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FC9674-325B-42C7-9C2A-D2093DDF6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742950"/>
            <a:ext cx="5476875" cy="485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7"/>
            </a:solidFill>
            <a:prstDash val="solid"/>
          </a:ln>
        </p:spPr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280B86-38D8-4F60-B735-3BE51B75A4F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ac089bf3d348ff"/>
          <a:srcRect xmlns:a="http://schemas.openxmlformats.org/drawingml/2006/main" l="7000" t="6000" r="7000" b="11000"/>
          <a:stretch xmlns:a="http://schemas.openxmlformats.org/drawingml/2006/main"/>
        </p:blipFill>
        <p:spPr>
          <a:xfrm xmlns:a="http://schemas.openxmlformats.org/drawingml/2006/main">
            <a:off x="5762625" y="885825"/>
            <a:ext cx="5191125" cy="452437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60538E-FD08-4D0C-A9FC-F1E9C4459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5667375"/>
            <a:ext cx="5381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rPr>
              <a:t>Table 9.2와 Figure 9.11. 게이트 클램프는 30 V 전원에서도 MOSFET의 VGS 정격을 지킨다.</a:t>
            </a:r>
          </a:p>
        </p:txBody>
      </p:sp>
    </p:spTree>
    <p:extLst>
      <p:ext uri="{BB962C8B-B14F-4D97-AF65-F5344CB8AC3E}">
        <p14:creationId xmlns:p14="http://schemas.microsoft.com/office/powerpoint/2010/main" val="63078896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276701-9328-4D0A-BF66-E38F7AF6D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6667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BBFEB5-9A53-4770-9EEA-434B414C7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008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rPr>
              <a:t>CHAPTER 9  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1568FB-4C9A-4EC4-9514-3C5A98DC0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008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rPr>
              <a:t>Embedded Hardware: Know It All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31B468-970D-43CC-A2A5-8304646EA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504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rPr>
              <a:t>릴레이와 솔레노이드의 자기 에너지는 전원을 끈 뒤에도 전류를 계속 흐르게 한다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02AA73-6284-4B87-B8CE-081CAC158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71625"/>
            <a:ext cx="4333875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3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DC 코일은 플라이백 다이오드로 역기전력을 제한한다.</a:t>
            </a:r>
          </a:p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3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AC 부하는 단방향 다이오드를 사용할 수 없어 RC 스너버로 에너지를 소모한다.</a:t>
            </a:r>
          </a:p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3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스너버는 접점 아크와 EMI를 줄이지만 OFF 상태의 누설전류를 만든다.</a:t>
            </a:r>
          </a:p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3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누설전류가 접촉기의 유지전류보다 크면 장치가 완전히 꺼지지 않을 수 있다.</a:t>
            </a:r>
          </a:p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3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스너버 위치는 부하 배선 길이와 방사 잡음 경로를 고려해 결정한다.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11871A-06C1-402C-9697-F998B0DF9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666750"/>
            <a:ext cx="566737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7"/>
            </a:solidFill>
            <a:prstDash val="solid"/>
          </a:ln>
        </p:spPr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B74087-9A36-451E-9BF2-32AE51B4823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1dd46ea4734add"/>
          <a:srcRect xmlns:a="http://schemas.openxmlformats.org/drawingml/2006/main" l="3000" t="4000" r="3000" b="38000"/>
          <a:stretch xmlns:a="http://schemas.openxmlformats.org/drawingml/2006/main"/>
        </p:blipFill>
        <p:spPr>
          <a:xfrm xmlns:a="http://schemas.openxmlformats.org/drawingml/2006/main">
            <a:off x="5619750" y="809625"/>
            <a:ext cx="5381625" cy="46196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4C2CA5-9445-4D8A-8C5B-C5DA1D518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676900"/>
            <a:ext cx="552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rPr>
              <a:t>Figure 9.12. DC 측 플라이백 다이오드와 AC 측 스너버가 저장된 자기 에너지를 관리한다.</a:t>
            </a:r>
          </a:p>
        </p:txBody>
      </p:sp>
    </p:spTree>
    <p:extLst>
      <p:ext uri="{BB962C8B-B14F-4D97-AF65-F5344CB8AC3E}">
        <p14:creationId xmlns:p14="http://schemas.microsoft.com/office/powerpoint/2010/main" val="180717427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5B828B-8EAD-4755-AD61-D5FD5DF8E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6667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25FF09-DC03-4EAA-88CF-401A9D738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008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rPr>
              <a:t>CHAPTER 9 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582825-57C8-423A-8B4C-3FABAE044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008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rPr>
              <a:t>Embedded Hardware: Know It All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0536AD-24D0-4880-A9F3-ED8CEA6C5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72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rPr>
              <a:t>기계식 릴레이와 SSR은 절연 방식은 비슷해도 열과 누설 특성이 다르다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712CEE-5324-47D1-89E1-2E8A51AE8748}"/>
              </a:ext>
            </a:extLst>
          </p:cNvPr>
          <p:cNvGraphicFramePr/>
          <p:nvPr/>
        </p:nvGraphicFramePr>
        <p:xfrm>
          <a:off xmlns:a="http://schemas.openxmlformats.org/drawingml/2006/main" x="952500" y="1238250"/>
          <a:ext xmlns:a="http://schemas.openxmlformats.org/drawingml/2006/main" cx="100965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65500"/>
                <a:gridCol w="3365500"/>
                <a:gridCol w="3365500"/>
              </a:tblGrid>
              <a:tr h="571500">
                <a:tc>
                  <a:txBody>
                    <a:bodyPr/>
                    <a:lstStyle/>
                    <a:p>
                      <a:r>
                        <a:t>항목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기계식 릴레이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SSR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스위치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금속 접점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BJT, MOSFET, SCR 또는 TRIAC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수명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접점 마모와 아크의 영향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움직이는 부품이 없어 장수명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OFF 누설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매우 작음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반도체 특성상 존재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발열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접점저항에 따른 I²R 손실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도통 전압강하와 온도 디레이팅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구동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코일 전류와 플라이백 처리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입력 LED에 수 mA에서 수십 mA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선택 기준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낮은 접점저항과 완전 차단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빠른 동작과 높은 반복 수명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2F9372-C08E-4514-8564-CB4C5435C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52450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rPr>
              <a:t>SSR도 유도성 부하를 끄면 역기전력이 발생하므로 부하 측 스너버나 플라이백 경로가 필요하다.</a:t>
            </a:r>
          </a:p>
        </p:txBody>
      </p:sp>
    </p:spTree>
    <p:extLst>
      <p:ext uri="{BB962C8B-B14F-4D97-AF65-F5344CB8AC3E}">
        <p14:creationId xmlns:p14="http://schemas.microsoft.com/office/powerpoint/2010/main" val="203291710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E02647-9556-40B5-A4D5-814F1B175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6667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8D2AF3-F0F0-4C22-8478-D81FEAF7B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008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rPr>
              <a:t>CHAPTER 9 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ED0798-4120-4E54-912F-B87B0BD52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008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rPr>
              <a:t>Embedded Hardware: Know It All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A89928-9D31-4B2E-9C5B-4C139B724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504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rPr>
              <a:t>FPGA와 CPLD는 단순 핀 확장보다 고속 데이터 경로에서 가장 큰 효과를 낸다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6E442E-21A9-4529-80A8-2BA148E76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66875"/>
            <a:ext cx="409575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marL="228600" indent="-114300">
              <a:spcAft>
                <a:spcPts val="1100"/>
              </a:spcAft>
              <a:buChar char="•"/>
              <a:defRPr sz="142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첫 FPGA는 Bayer 패턴의 센서 데이터를 RGB 픽셀로 변환한다.</a:t>
            </a:r>
          </a:p>
          <a:p xmlns:a="http://schemas.openxmlformats.org/drawingml/2006/main">
            <a:pPr marL="228600" indent="-114300">
              <a:spcAft>
                <a:spcPts val="1100"/>
              </a:spcAft>
              <a:buChar char="•"/>
              <a:defRPr sz="142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두 번째 FPGA는 스케일링과 색 보정 같은 실시간 영상 처리를 수행한다.</a:t>
            </a:r>
          </a:p>
          <a:p xmlns:a="http://schemas.openxmlformats.org/drawingml/2006/main">
            <a:pPr marL="228600" indent="-114300">
              <a:spcAft>
                <a:spcPts val="1100"/>
              </a:spcAft>
              <a:buChar char="•"/>
              <a:defRPr sz="142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CPLD는 프레임 캡처와 고속 SRAM 인터페이스를 제어한다.</a:t>
            </a:r>
          </a:p>
          <a:p xmlns:a="http://schemas.openxmlformats.org/drawingml/2006/main">
            <a:pPr marL="228600" indent="-114300">
              <a:spcAft>
                <a:spcPts val="1100"/>
              </a:spcAft>
              <a:buChar char="•"/>
              <a:defRPr sz="142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CPU는 영상 스트림 대신 설정값과 캡처된 프레임을 처리한다.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428347-0563-4963-95BD-C350B358A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714375"/>
            <a:ext cx="59531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7"/>
            </a:solidFill>
            <a:prstDash val="solid"/>
          </a:ln>
        </p:spPr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6D929E-FC60-4EBF-9210-359E049BD56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ad00d758e249bd"/>
          <a:srcRect xmlns:a="http://schemas.openxmlformats.org/drawingml/2006/main" l="3000" t="4000" r="3000" b="40000"/>
          <a:stretch xmlns:a="http://schemas.openxmlformats.org/drawingml/2006/main"/>
        </p:blipFill>
        <p:spPr>
          <a:xfrm xmlns:a="http://schemas.openxmlformats.org/drawingml/2006/main">
            <a:off x="5286375" y="857250"/>
            <a:ext cx="5667375" cy="46196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3A13CF-97F5-41C4-BAA1-2994E5BFA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5715000"/>
            <a:ext cx="5857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rPr>
              <a:t>Figure 9.14. 실시간 영상 데이터는 FPGA가 처리하고 CPU는 설정과 네트워크 기능을 담당한다.</a:t>
            </a:r>
          </a:p>
        </p:txBody>
      </p:sp>
    </p:spTree>
    <p:extLst>
      <p:ext uri="{BB962C8B-B14F-4D97-AF65-F5344CB8AC3E}">
        <p14:creationId xmlns:p14="http://schemas.microsoft.com/office/powerpoint/2010/main" val="161912009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DE47C6-D4B4-46B0-B083-02C7B0644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6667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981EA0-B8A7-4A3E-BA59-4A224FB48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008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rPr>
              <a:t>CHAPTER 9 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8FB1D5-9DC7-4051-8895-981F401C5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008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rPr>
              <a:t>Embedded Hardware: Know It All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76794F-4BE7-4B41-9017-8F8C5A22A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504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rPr>
              <a:t>ADC 평가는 변환기보다 센서부터 전원·배선까지 포함한 전체 DAQ 채널을 대상으로 한다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5D2914-EF05-4EE7-8607-EE479ADA2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24000"/>
            <a:ext cx="47625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3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Delta-Sigma는 느리지만 고분해능 측정에 적합하다.</a:t>
            </a:r>
          </a:p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3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Flash ADC는 매우 빠르며 영상과 통신 신호에 사용한다.</a:t>
            </a:r>
          </a:p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3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SAR ADC는 속도, 분해능과 가격의 균형이 좋아 임베디드 시스템에서 널리 사용한다.</a:t>
            </a:r>
          </a:p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3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실험은 2.5 V 정밀 기준을 32,768회 샘플링한 뒤 직렬 포트로 Linux PC에 전송한다.</a:t>
            </a:r>
          </a:p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3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샘플링을 먼저 끝낸 뒤 전송해 직렬 통신 잡음이 ADC에 결합되는 가능성을 줄인다.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736E51-1C3D-4564-8718-C21DBF9B9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095375"/>
            <a:ext cx="50482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7"/>
            </a:solidFill>
            <a:prstDash val="solid"/>
          </a:ln>
        </p:spPr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868E52-640A-407A-804A-EDB5FB70565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57a75ce91f4307"/>
          <a:srcRect xmlns:a="http://schemas.openxmlformats.org/drawingml/2006/main" l="10000" t="4000" r="10000" b="64000"/>
          <a:stretch xmlns:a="http://schemas.openxmlformats.org/drawingml/2006/main"/>
        </p:blipFill>
        <p:spPr>
          <a:xfrm xmlns:a="http://schemas.openxmlformats.org/drawingml/2006/main">
            <a:off x="6048375" y="1238250"/>
            <a:ext cx="4762500" cy="28575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F9D544-D58B-4B59-866D-7D14F1A1E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429125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rPr>
              <a:t>Figure 9.15. 정밀 기준전압, RCM3400과 Linux 분석 PC로 DAQ 채널을 측정한다.</a:t>
            </a:r>
          </a:p>
        </p:txBody>
      </p:sp>
    </p:spTree>
    <p:extLst>
      <p:ext uri="{BB962C8B-B14F-4D97-AF65-F5344CB8AC3E}">
        <p14:creationId xmlns:p14="http://schemas.microsoft.com/office/powerpoint/2010/main" val="120808336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C9002C-EFB1-4752-B99D-75C0D768F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6667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B87182-AC42-4206-B783-1CFF0A0A6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008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rPr>
              <a:t>CHAPTER 9  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0342B5-A354-4ACD-8B1A-982589C81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008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rPr>
              <a:t>Embedded Hardware: Know It All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D8C0F7-E2EE-4D15-87AA-19AB481E7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504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rPr>
              <a:t>평균, 표준편차와 히스토그램을 함께 보면 오프셋과 잡음의 크기·형태를 구분할 수 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F164FF-BBC0-44DF-AF4F-5582E4B54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71625"/>
            <a:ext cx="4619625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3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평균과 이상적인 ADC 코드를 비교해 오프셋을 계산한다.</a:t>
            </a:r>
          </a:p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3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표준편차는 RMS 잡음의 크기를 ADC 코드 또는 전압으로 나타낸다.</a:t>
            </a:r>
          </a:p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3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여러 봉우리가 보이면 무작위 잡음보다 외부 결합 신호를 의심한다.</a:t>
            </a:r>
          </a:p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3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실험 결과 gain 1, 2, 4, 5에서 유효 분해능은 11비트 수준이었다.</a:t>
            </a:r>
          </a:p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3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gain 5의 최악 피크투피크 조건에서 noise-free resolution은 약 9.84비트였다.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487050-B078-4318-955F-22D2E741C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781050"/>
            <a:ext cx="519112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7"/>
            </a:solidFill>
            <a:prstDash val="solid"/>
          </a:ln>
        </p:spPr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70D163-1A01-4758-AD9F-3F76D483A4C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2b4c232d924e4e"/>
          <a:srcRect xmlns:a="http://schemas.openxmlformats.org/drawingml/2006/main" l="13000" t="4000" r="13000" b="54000"/>
          <a:stretch xmlns:a="http://schemas.openxmlformats.org/drawingml/2006/main"/>
        </p:blipFill>
        <p:spPr>
          <a:xfrm xmlns:a="http://schemas.openxmlformats.org/drawingml/2006/main">
            <a:off x="5953125" y="923925"/>
            <a:ext cx="4905375" cy="376237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8E0D8F-B5A5-4EB1-BB4A-2C242B909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953000"/>
            <a:ext cx="5095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rPr>
              <a:t>Figure 9.16. 데이터가 두세 개 코드에 집중되어 채널 잡음이 매우 작음을 보여준다.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AC8A2A-FD08-4F73-A5FA-2569645BA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5476875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rPr>
              <a:t>측정하지 않은 DAQ 채널과 실제 센서 조건에서도 같은 절차를 반복해야 한다.</a:t>
            </a:r>
          </a:p>
        </p:txBody>
      </p:sp>
    </p:spTree>
    <p:extLst>
      <p:ext uri="{BB962C8B-B14F-4D97-AF65-F5344CB8AC3E}">
        <p14:creationId xmlns:p14="http://schemas.microsoft.com/office/powerpoint/2010/main" val="3781543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2026-10-07T21:12:51.5360000Z</dcterms:created>
  <dcterms:modified xsi:type="dcterms:W3CDTF">2026-10-07T21:12:51.5360000Z</dcterms:modified>
</coreProperties>
</file>