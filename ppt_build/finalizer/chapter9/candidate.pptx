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50a8a3bd3f494b" /><Relationship Type="http://schemas.openxmlformats.org/officeDocument/2006/relationships/extended-properties" Target="/docProps/app.xml" Id="R063ba7e58f9b4103" /><Relationship Type="http://schemas.openxmlformats.org/officeDocument/2006/relationships/officeDocument" Target="/ppt/presentation.xml" Id="Reb9a2352b43841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78b58bbc374911"/>
  </p:sldMasterIdLst>
  <p:notesMasterIdLst>
    <p:notesMasterId xmlns:r="http://schemas.openxmlformats.org/officeDocument/2006/relationships" r:id="R221c2364474a4214"/>
  </p:notesMasterIdLst>
  <p:sldIdLst>
    <p:sldId xmlns:r="http://schemas.openxmlformats.org/officeDocument/2006/relationships" id="256" r:id="R0e9a63441c034204"/>
    <p:sldId xmlns:r="http://schemas.openxmlformats.org/officeDocument/2006/relationships" id="257" r:id="R516640f062bd4bd7"/>
    <p:sldId xmlns:r="http://schemas.openxmlformats.org/officeDocument/2006/relationships" id="258" r:id="Ra9b175cae32747fe"/>
    <p:sldId xmlns:r="http://schemas.openxmlformats.org/officeDocument/2006/relationships" id="259" r:id="R5b02c853fcb24570"/>
    <p:sldId xmlns:r="http://schemas.openxmlformats.org/officeDocument/2006/relationships" id="260" r:id="Reae420ddb8cc4fb0"/>
    <p:sldId xmlns:r="http://schemas.openxmlformats.org/officeDocument/2006/relationships" id="261" r:id="R877a5110f8a2445e"/>
    <p:sldId xmlns:r="http://schemas.openxmlformats.org/officeDocument/2006/relationships" id="262" r:id="Rc508e4abd1a74cb6"/>
    <p:sldId xmlns:r="http://schemas.openxmlformats.org/officeDocument/2006/relationships" id="263" r:id="Rcc5c4fb418e4497e"/>
    <p:sldId xmlns:r="http://schemas.openxmlformats.org/officeDocument/2006/relationships" id="264" r:id="R2aa85fc223584c18"/>
    <p:sldId xmlns:r="http://schemas.openxmlformats.org/officeDocument/2006/relationships" id="265" r:id="Re5ef13d1f111421f"/>
    <p:sldId xmlns:r="http://schemas.openxmlformats.org/officeDocument/2006/relationships" id="266" r:id="Rcd568ae3c9f64744"/>
    <p:sldId xmlns:r="http://schemas.openxmlformats.org/officeDocument/2006/relationships" id="267" r:id="Re5ba3a39691d43ce"/>
    <p:sldId xmlns:r="http://schemas.openxmlformats.org/officeDocument/2006/relationships" id="268" r:id="Rbde1412220bd4f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5c6f24a9474fb1" /><Relationship Type="http://schemas.openxmlformats.org/officeDocument/2006/relationships/slideMaster" Target="/ppt/slideMasters/slideMaster1.xml" Id="R9d78b58bbc374911" /><Relationship Type="http://schemas.openxmlformats.org/officeDocument/2006/relationships/notesMaster" Target="/ppt/notesMasters/notesMaster1.xml" Id="R221c2364474a4214" /><Relationship Type="http://schemas.openxmlformats.org/officeDocument/2006/relationships/presProps" Target="/ppt/presProps.xml" Id="Rd153b4d3c9e5478d" /><Relationship Type="http://schemas.openxmlformats.org/officeDocument/2006/relationships/tableStyles" Target="/ppt/tableStyles.xml" Id="R56b938fe2c3b46b8" /><Relationship Type="http://schemas.openxmlformats.org/officeDocument/2006/relationships/slide" Target="/ppt/slides/slide1.xml" Id="R0e9a63441c034204" /><Relationship Type="http://schemas.openxmlformats.org/officeDocument/2006/relationships/slide" Target="/ppt/slides/slide2.xml" Id="R516640f062bd4bd7" /><Relationship Type="http://schemas.openxmlformats.org/officeDocument/2006/relationships/slide" Target="/ppt/slides/slide3.xml" Id="Ra9b175cae32747fe" /><Relationship Type="http://schemas.openxmlformats.org/officeDocument/2006/relationships/slide" Target="/ppt/slides/slide4.xml" Id="R5b02c853fcb24570" /><Relationship Type="http://schemas.openxmlformats.org/officeDocument/2006/relationships/slide" Target="/ppt/slides/slide5.xml" Id="Reae420ddb8cc4fb0" /><Relationship Type="http://schemas.openxmlformats.org/officeDocument/2006/relationships/slide" Target="/ppt/slides/slide6.xml" Id="R877a5110f8a2445e" /><Relationship Type="http://schemas.openxmlformats.org/officeDocument/2006/relationships/slide" Target="/ppt/slides/slide7.xml" Id="Rc508e4abd1a74cb6" /><Relationship Type="http://schemas.openxmlformats.org/officeDocument/2006/relationships/slide" Target="/ppt/slides/slide8.xml" Id="Rcc5c4fb418e4497e" /><Relationship Type="http://schemas.openxmlformats.org/officeDocument/2006/relationships/slide" Target="/ppt/slides/slide9.xml" Id="R2aa85fc223584c18" /><Relationship Type="http://schemas.openxmlformats.org/officeDocument/2006/relationships/slide" Target="/ppt/slides/slide10.xml" Id="Re5ef13d1f111421f" /><Relationship Type="http://schemas.openxmlformats.org/officeDocument/2006/relationships/slide" Target="/ppt/slides/slide11.xml" Id="Rcd568ae3c9f64744" /><Relationship Type="http://schemas.openxmlformats.org/officeDocument/2006/relationships/slide" Target="/ppt/slides/slide12.xml" Id="Re5ba3a39691d43ce" /><Relationship Type="http://schemas.openxmlformats.org/officeDocument/2006/relationships/slide" Target="/ppt/slides/slide13.xml" Id="Rbde1412220bd4f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da1a2882fc47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3293d4853744a0" /><Relationship Type="http://schemas.openxmlformats.org/officeDocument/2006/relationships/notesMaster" Target="/ppt/notesMasters/notesMaster1.xml" Id="Rb50881057bfa4d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29e6bdf02e4830" /><Relationship Type="http://schemas.openxmlformats.org/officeDocument/2006/relationships/notesMaster" Target="/ppt/notesMasters/notesMaster1.xml" Id="Rd6c92ac5922e44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1ad1d9ee744da6" /><Relationship Type="http://schemas.openxmlformats.org/officeDocument/2006/relationships/notesMaster" Target="/ppt/notesMasters/notesMaster1.xml" Id="R67a8151766be4d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c66aa79c7c496a" /><Relationship Type="http://schemas.openxmlformats.org/officeDocument/2006/relationships/notesMaster" Target="/ppt/notesMasters/notesMaster1.xml" Id="R7b99222a683947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7db24f28ad424a" /><Relationship Type="http://schemas.openxmlformats.org/officeDocument/2006/relationships/notesMaster" Target="/ppt/notesMasters/notesMaster1.xml" Id="Rec4bb57d248442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3d849f2e9641c3" /><Relationship Type="http://schemas.openxmlformats.org/officeDocument/2006/relationships/notesMaster" Target="/ppt/notesMasters/notesMaster1.xml" Id="R9f3dff42cc044e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e1e7d159f14136" /><Relationship Type="http://schemas.openxmlformats.org/officeDocument/2006/relationships/notesMaster" Target="/ppt/notesMasters/notesMaster1.xml" Id="R5a98468e37d749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36951232ba4729" /><Relationship Type="http://schemas.openxmlformats.org/officeDocument/2006/relationships/notesMaster" Target="/ppt/notesMasters/notesMaster1.xml" Id="R78c6cfb6dde147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db200cbdab471e" /><Relationship Type="http://schemas.openxmlformats.org/officeDocument/2006/relationships/notesMaster" Target="/ppt/notesMasters/notesMaster1.xml" Id="Rd9ca6cbbdd7345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f6513dccc242ed" /><Relationship Type="http://schemas.openxmlformats.org/officeDocument/2006/relationships/notesMaster" Target="/ppt/notesMasters/notesMaster1.xml" Id="R26980fca6e044d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a8e6a54aae482d" /><Relationship Type="http://schemas.openxmlformats.org/officeDocument/2006/relationships/notesMaster" Target="/ppt/notesMasters/notesMaster1.xml" Id="Rb9d5108e81234f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64ff31b81f4c23" /><Relationship Type="http://schemas.openxmlformats.org/officeDocument/2006/relationships/notesMaster" Target="/ppt/notesMasters/notesMaster1.xml" Id="Rf0055226c5864e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c3683b66af4288" /><Relationship Type="http://schemas.openxmlformats.org/officeDocument/2006/relationships/notesMaster" Target="/ppt/notesMasters/notesMaster1.xml" Id="R24682ebcdd294c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389-390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389-392, Table 9.1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392-398, Figure 9.5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397-399, Figure 9.6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398-402, Figure 9.7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402-404, Figure 9.8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404-409, Figure 9.9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409-411, Table 9.2 and Figure 9.11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411-417, Figure 9.12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417-418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418-420, Figure 9.14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420-427, Figure 9.15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9, pp. 428-435, Figure 9.16 and Table 9.3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8a5b1b77c47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776dbad0540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78a78be2348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5f4f595d54f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30fbd6ccb4a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0aa218f564d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0D335C-5699-4E21-9769-BCBD1FC06D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CCFDAC-E9B5-4371-8FC5-1C1355715A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82ED2A1-DFFE-47FC-91DA-C4703B1D5D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CD1285-9701-435D-BAC7-606D98CDD5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A72B37-615B-4A94-BA1B-81D962417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1A88B2-C24D-462A-9BC6-D7ED4CA6BA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E59401-0B26-4F1E-9740-40450CC363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7A6C0D-E413-42F7-935F-A717814703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32A523-E1D8-494D-BFF4-5331340FA1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5199B3-D044-4B22-A15A-C7418DED91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5b85ec8dbb41ad" /><Relationship Type="http://schemas.openxmlformats.org/officeDocument/2006/relationships/slideLayout" Target="/ppt/slideLayouts/slideLayout1.xml" Id="R16df38d27ed44069" /><Relationship Type="http://schemas.openxmlformats.org/officeDocument/2006/relationships/slideLayout" Target="/ppt/slideLayouts/slideLayout2.xml" Id="Rc271878d2bf74a4e" /><Relationship Type="http://schemas.openxmlformats.org/officeDocument/2006/relationships/slideLayout" Target="/ppt/slideLayouts/slideLayout3.xml" Id="Rb12cd31ff6a64725" /><Relationship Type="http://schemas.openxmlformats.org/officeDocument/2006/relationships/slideLayout" Target="/ppt/slideLayouts/slideLayout4.xml" Id="Ra09ec2076d3e45af" /><Relationship Type="http://schemas.openxmlformats.org/officeDocument/2006/relationships/slideLayout" Target="/ppt/slideLayouts/slideLayout5.xml" Id="Rae82d2c10da24cfe" /><Relationship Type="http://schemas.openxmlformats.org/officeDocument/2006/relationships/slideLayout" Target="/ppt/slideLayouts/slideLayout6.xml" Id="Rc8f3f575872044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df38d27ed44069"/>
    <p:sldLayoutId xmlns:r="http://schemas.openxmlformats.org/officeDocument/2006/relationships" id="2147483650" r:id="Rc271878d2bf74a4e"/>
    <p:sldLayoutId xmlns:r="http://schemas.openxmlformats.org/officeDocument/2006/relationships" id="2147483651" r:id="Rb12cd31ff6a64725"/>
    <p:sldLayoutId xmlns:r="http://schemas.openxmlformats.org/officeDocument/2006/relationships" id="2147483652" r:id="Ra09ec2076d3e45af"/>
    <p:sldLayoutId xmlns:r="http://schemas.openxmlformats.org/officeDocument/2006/relationships" id="2147483653" r:id="Rae82d2c10da24cfe"/>
    <p:sldLayoutId xmlns:r="http://schemas.openxmlformats.org/officeDocument/2006/relationships" id="2147483654" r:id="Rc8f3f575872044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1d7181c4d044bf" /><Relationship Type="http://schemas.openxmlformats.org/officeDocument/2006/relationships/notesSlide" Target="/ppt/notesSlides/notesSlide1.xml" Id="R581157bdad3749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7605b3771e4d4a" /><Relationship Type="http://schemas.openxmlformats.org/officeDocument/2006/relationships/notesSlide" Target="/ppt/notesSlides/notesSlide2.xml" Id="Ra62f9a9859c54d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faad07a21245cc" /><Relationship Type="http://schemas.openxmlformats.org/officeDocument/2006/relationships/image" Target="/ppt/media/image.png" Id="Rdc100271319444d6" /><Relationship Type="http://schemas.openxmlformats.org/officeDocument/2006/relationships/notesSlide" Target="/ppt/notesSlides/notesSlide3.xml" Id="R7d0c844b60174a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2ba174779f4dfd" /><Relationship Type="http://schemas.openxmlformats.org/officeDocument/2006/relationships/image" Target="/ppt/media/image2.png" Id="Rf6d4c74291af48cf" /><Relationship Type="http://schemas.openxmlformats.org/officeDocument/2006/relationships/notesSlide" Target="/ppt/notesSlides/notesSlide4.xml" Id="Rf69f9a4750e846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38c15a9944648" /><Relationship Type="http://schemas.openxmlformats.org/officeDocument/2006/relationships/image" Target="/ppt/media/image3.png" Id="R33abef5b4f3e42a2" /><Relationship Type="http://schemas.openxmlformats.org/officeDocument/2006/relationships/notesSlide" Target="/ppt/notesSlides/notesSlide5.xml" Id="Rce1fe004332246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7fdbf899594823" /><Relationship Type="http://schemas.openxmlformats.org/officeDocument/2006/relationships/image" Target="/ppt/media/image4.png" Id="R3db7d1db850f4720" /><Relationship Type="http://schemas.openxmlformats.org/officeDocument/2006/relationships/notesSlide" Target="/ppt/notesSlides/notesSlide6.xml" Id="R150fde96374d41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48bb11408b42a7" /><Relationship Type="http://schemas.openxmlformats.org/officeDocument/2006/relationships/image" Target="/ppt/media/image5.png" Id="R97e94d0dfd924558" /><Relationship Type="http://schemas.openxmlformats.org/officeDocument/2006/relationships/notesSlide" Target="/ppt/notesSlides/notesSlide7.xml" Id="Rbd2371c1c1a64d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22f9f1d8484ff1" /><Relationship Type="http://schemas.openxmlformats.org/officeDocument/2006/relationships/image" Target="/ppt/media/image6.png" Id="R5e4948deb7634189" /><Relationship Type="http://schemas.openxmlformats.org/officeDocument/2006/relationships/notesSlide" Target="/ppt/notesSlides/notesSlide8.xml" Id="R6d0890e359f248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804feb713d4961" /><Relationship Type="http://schemas.openxmlformats.org/officeDocument/2006/relationships/image" Target="/ppt/media/image7.png" Id="R5a150297bcde4245" /><Relationship Type="http://schemas.openxmlformats.org/officeDocument/2006/relationships/notesSlide" Target="/ppt/notesSlides/notesSlide9.xml" Id="R03aa420d297147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f55b7d2c5c42ba" /><Relationship Type="http://schemas.openxmlformats.org/officeDocument/2006/relationships/notesSlide" Target="/ppt/notesSlides/notesSlide10.xml" Id="Rb77c40c9498f4c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f6c97bbde47e8" /><Relationship Type="http://schemas.openxmlformats.org/officeDocument/2006/relationships/image" Target="/ppt/media/image8.png" Id="R6e380ef2ea6e4dcb" /><Relationship Type="http://schemas.openxmlformats.org/officeDocument/2006/relationships/notesSlide" Target="/ppt/notesSlides/notesSlide11.xml" Id="R1cdf41a3d20a40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4fc1068100455b" /><Relationship Type="http://schemas.openxmlformats.org/officeDocument/2006/relationships/image" Target="/ppt/media/image9.png" Id="Rcda14aec581241d1" /><Relationship Type="http://schemas.openxmlformats.org/officeDocument/2006/relationships/notesSlide" Target="/ppt/notesSlides/notesSlide12.xml" Id="Rffb6b3fd62174b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b73903656144a8" /><Relationship Type="http://schemas.openxmlformats.org/officeDocument/2006/relationships/image" Target="/ppt/media/image10.png" Id="Rbf9d3da890ed4a7e" /><Relationship Type="http://schemas.openxmlformats.org/officeDocument/2006/relationships/notesSlide" Target="/ppt/notesSlides/notesSlide13.xml" Id="R04cd5f0db2ed44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F29B3-7971-4DF7-924A-1F8296E4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41016-A10F-4674-92FF-D5F93525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806DB-894E-4454-AAE9-7744AC8B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E6F23-273C-46EE-9A4C-01831298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센서와 액추에이터 인터페이스는 논리 기능보다 전기적 스트레스를 먼저 다룬다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A2D41-9AF0-4134-8574-6AA6EDC7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3.3 V와 5 V 사이의 논리 임계값과 입력 내압을 확인한다.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외부 배선에서 들어오는 ESD와 서지가 MCU 핀에 도달하기 전에 우회시킨다.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부족한 디지털 I/O는 버퍼, 멀티플렉서, 래치와 시프트 레지스터로 확장한다.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릴레이, 모터와 솔레노이드는 전류 증폭과 유도성 에너지 처리가 필요하다.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ADC 성능은 변환기 한 개가 아니라 전체 데이터 수집 채널로 측정한다.</a:t>
            </a:r>
          </a:p>
        </p:txBody>
      </p:sp>
    </p:spTree>
    <p:extLst>
      <p:ext uri="{BB962C8B-B14F-4D97-AF65-F5344CB8AC3E}">
        <p14:creationId xmlns:p14="http://schemas.microsoft.com/office/powerpoint/2010/main" val="1778314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CFF37-E031-4803-A7CB-07482C46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76F0A-9037-4EBC-ADCD-E45A589F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31E89-5684-4D32-9AD5-99C0B19E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31BCC-ABAB-4A11-B97B-84CFD3BE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3.3 V 출력이 5 V 입력을 구동할 때 HIGH 임계값이 가장 흔한 실패 원인이다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3BE18-C3AC-4B98-BE93-FE56C1C4D28A}"/>
              </a:ext>
            </a:extLst>
          </p:cNvPr>
          <p:cNvGraphicFramePr/>
          <p:nvPr/>
        </p:nvGraphicFramePr>
        <p:xfrm>
          <a:off xmlns:a="http://schemas.openxmlformats.org/drawingml/2006/main" x="857250" y="1285875"/>
          <a:ext xmlns:a="http://schemas.openxmlformats.org/drawingml/2006/main" cx="10287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429000"/>
                <a:gridCol w="3429000"/>
              </a:tblGrid>
              <a:tr h="571500">
                <a:tc>
                  <a:txBody>
                    <a:bodyPr/>
                    <a:lstStyle/>
                    <a:p>
                      <a:r>
                        <a:t>입력 로직 계열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VIH 최소값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3.3 V 출력과의 관계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HC / VHC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 × VCC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 V 공급 시 3.5 V가 필요하므로 규격상 불충분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HCT / VHCT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2.0 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3.3 V CMOS 출력과 호환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LVT / LVX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2.0 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공급 전압과 무관한 임계값으로 사용 가능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5 V tolerant 입력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제품별 확인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 V 출력이 3.3 V 장치를 손상시키지 않도록 설계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EC942-B320-4C4E-B9A3-FA45EC8A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2437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3.3 V 입력에 5 V를 가할 때는 입력의 5 V tolerance와 내부 보호 다이오드를 확인한다.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실온에서 동작하는 조합도 온도와 부품 편차에서 노이즈 마진을 잃을 수 있다.</a:t>
            </a:r>
          </a:p>
        </p:txBody>
      </p:sp>
    </p:spTree>
    <p:extLst>
      <p:ext uri="{BB962C8B-B14F-4D97-AF65-F5344CB8AC3E}">
        <p14:creationId xmlns:p14="http://schemas.microsoft.com/office/powerpoint/2010/main" val="24289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CE19A-866D-4422-818A-E5BF8F88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A85F9-8B98-49D0-B9FA-2A961F3A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5010B-3720-4841-93FE-1D4B029C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76C37-AE22-466D-BAC4-2E17FBDB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보호소자는 처리 에너지와 반응 속도가 달라 여러 단계를 조합해야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EE481-15AF-499F-B056-C095F075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286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GDT는 큰 서지 에너지를 처리하지만 반응이 느리다.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MOV는 전력선 과도전압에 적합하고 TVS는 빠른 ESD 억제에 적합하다.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직렬 저항은 보호 다이오드 전류를 제한하고 입력 용량과 저역통과 필터를 만든다.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5 V tolerant 입력은 상단 보호 다이오드가 없을 수 있으므로 외부 보호 경로가 필요하다.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5F5FE-582F-404D-9655-FA0ADEFA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3875"/>
            <a:ext cx="56197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6C6AD-CE14-46F8-A7B5-3E7958D3FF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00271319444d6"/>
          <a:srcRect xmlns:a="http://schemas.openxmlformats.org/drawingml/2006/main" l="14000" t="11000" r="14000" b="8000"/>
          <a:stretch xmlns:a="http://schemas.openxmlformats.org/drawingml/2006/main"/>
        </p:blipFill>
        <p:spPr>
          <a:xfrm xmlns:a="http://schemas.openxmlformats.org/drawingml/2006/main">
            <a:off x="5619750" y="666750"/>
            <a:ext cx="5334000" cy="5286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5C375-9E96-45AB-9E36-4488E6F3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53125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9.5. 내부 보호 다이오드는 ESD를 막지만 혼합 전압 시스템에서는 과전류 경로가 될 수 있다.</a:t>
            </a:r>
          </a:p>
        </p:txBody>
      </p:sp>
    </p:spTree>
    <p:extLst>
      <p:ext uri="{BB962C8B-B14F-4D97-AF65-F5344CB8AC3E}">
        <p14:creationId xmlns:p14="http://schemas.microsoft.com/office/powerpoint/2010/main" val="13314770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AF0AC-916E-4E63-87D5-403BCFE4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7B02D-BE1C-42F1-84F6-4D800636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868A4-22C7-4907-B1D2-83C53050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EBE16-06BA-44F0-96F2-E48BA76F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좋은 보호회로도 PCB에서 방전 경로를 잘못 배치하면 우회된다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9CED0-1940-471B-AE63-3F415845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476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커넥터에서 들어온 과도전압은 가장 짧은 경로로 보호소자와 접지에 전달한다.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보호 전·후 신호 패턴을 가깝게 평행 배치하지 않는다.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층간 비아가 너무 가까우면 ESD가 보호망을 건너뛸 수 있다.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패턴 간격과 귀환 경로는 부품 정격만큼 중요한 보호 설계 요소다.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4E533-E926-4581-8C68-32382436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047750"/>
            <a:ext cx="51911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6EE5A-4EB1-4827-AD39-2C5FBCA67E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4c74291af48cf"/>
          <a:srcRect xmlns:a="http://schemas.openxmlformats.org/drawingml/2006/main" l="10000" t="5000" r="10000" b="55000"/>
          <a:stretch xmlns:a="http://schemas.openxmlformats.org/drawingml/2006/main"/>
        </p:blipFill>
        <p:spPr>
          <a:xfrm xmlns:a="http://schemas.openxmlformats.org/drawingml/2006/main">
            <a:off x="5905500" y="1190625"/>
            <a:ext cx="4905375" cy="3381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8CEDC-F18B-4BBC-B99A-4C0DBD8D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509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9.6. 보호된 신호와 보호 전 신호 사이의 비아 간격이 좁으면 아크가 발생할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489807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4D413-A42D-47AA-A3AC-F82003E9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44D9F-BDD7-4FF8-B965-EC3EDB4F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EA7F9-CDF2-4F40-8ABB-BC9F50BD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1D664-1851-4BA9-BC09-0427D82A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디지털 입력 확장 방식은 핀 수보다 버스 부하와 동시 샘플링 요구로 선택한다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FCC55-4D36-4245-844B-95A85485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048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74HC244는 간단하지만 각 출력의 용량이 데이터 버스에 누적된다.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74HC257은 여러 입력을 선택해 입력당 버스 부하를 줄인다.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74HC574는 16개 이상의 입력을 같은 순간에 캡처할 수 있다.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74HC597 체인은 한 데이터 비트로 많은 입력을 직렬 수집한다.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CC62E-0738-464B-95F5-46826592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3875"/>
            <a:ext cx="60007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576EC-4E1C-40D9-B02E-E285108E1E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bef5b4f3e42a2"/>
          <a:srcRect xmlns:a="http://schemas.openxmlformats.org/drawingml/2006/main" l="3000" t="4000" r="3000" b="8000"/>
          <a:stretch xmlns:a="http://schemas.openxmlformats.org/drawingml/2006/main"/>
        </p:blipFill>
        <p:spPr>
          <a:xfrm xmlns:a="http://schemas.openxmlformats.org/drawingml/2006/main">
            <a:off x="5238750" y="666750"/>
            <a:ext cx="5715000" cy="5286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81C44-BA04-484C-8193-D6F50D76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721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9.7. 버퍼, 멀티플렉서, 래치와 시프트 체인은 서로 다른 I/O 확장 조건을 해결한다.</a:t>
            </a:r>
          </a:p>
        </p:txBody>
      </p:sp>
    </p:spTree>
    <p:extLst>
      <p:ext uri="{BB962C8B-B14F-4D97-AF65-F5344CB8AC3E}">
        <p14:creationId xmlns:p14="http://schemas.microsoft.com/office/powerpoint/2010/main" val="6164482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25748-487C-49E7-BD7A-8FFDD4BB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3FB43-C940-47FC-A676-93B951FF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622B6-7ACE-45EB-BD62-74F7D90A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7D5B5-2D69-48CB-8183-E21CABEC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디지털 출력 확장에서는 리셋 직후의 출력 상태와 단락 보호가 추가로 필요하다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481C6-CCEA-4329-B1DB-A7C546CF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095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74HC574는 외부 출력 인에이블과 저항으로 초기 HIGH·LOW를 선택한다.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74HC273은 CLR 신호로 모든 출력을 0으로 초기화한다.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74HC259는 한 데이터 비트와 주소선으로 특정 출력만 갱신한다.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74HC594/595는 직렬 데이터를 여러 병렬 출력으로 확장한다.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54E61-B350-470A-9A70-DC7B807C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1500"/>
            <a:ext cx="59055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2F1BB-2FDD-4D48-A46F-21C63714C9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7d1db850f4720"/>
          <a:srcRect xmlns:a="http://schemas.openxmlformats.org/drawingml/2006/main" l="3000" t="5000" r="3000" b="18000"/>
          <a:stretch xmlns:a="http://schemas.openxmlformats.org/drawingml/2006/main"/>
        </p:blipFill>
        <p:spPr>
          <a:xfrm xmlns:a="http://schemas.openxmlformats.org/drawingml/2006/main">
            <a:off x="5286375" y="714375"/>
            <a:ext cx="5619750" cy="5095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BED36-992D-472B-9521-0858CA83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0198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9.8. 출력 유지 방식, 리셋 기능과 버스 부하가 회로 선택을 결정한다.</a:t>
            </a:r>
          </a:p>
        </p:txBody>
      </p:sp>
    </p:spTree>
    <p:extLst>
      <p:ext uri="{BB962C8B-B14F-4D97-AF65-F5344CB8AC3E}">
        <p14:creationId xmlns:p14="http://schemas.microsoft.com/office/powerpoint/2010/main" val="18105888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F30F3-3E37-43F5-9D59-FF91542A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EE5CB-6CDD-4A8A-A3FA-CC1526F9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011C1-1580-4845-8E95-83DD21D7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20F1D-F44D-4ABC-9E92-4839911B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BJT 드라이버는 부하 전류뿐 아니라 베이스 전류와 포화 발열을 계산해야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31B07-2B54-4002-BF01-C76A94A1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381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스위칭 포화 상태의 전류이득은 증폭 영역보다 훨씬 작게 잡는다.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500 mA 부하에서 강제 β를 10으로 잡으면 약 50 mA의 베이스 전류가 필요하다.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트랜지스터 손실은 VCE(sat) × IC와 VBE × IB를 합산한다.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고전압 PNP 구동은 베이스 저항에서 V²/R 발열이 크게 증가한다.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ULN2803 같은 다채널 Darlington은 편리하지만 출력 전압강하가 크다.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FC51F-329F-4E4F-8381-7433C408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809625"/>
            <a:ext cx="5524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414FF-0647-43DA-93FD-9E4DF75970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94d0dfd924558"/>
          <a:srcRect xmlns:a="http://schemas.openxmlformats.org/drawingml/2006/main" l="3000" t="5000" r="3000" b="39000"/>
          <a:stretch xmlns:a="http://schemas.openxmlformats.org/drawingml/2006/main"/>
        </p:blipFill>
        <p:spPr>
          <a:xfrm xmlns:a="http://schemas.openxmlformats.org/drawingml/2006/main">
            <a:off x="5715000" y="952500"/>
            <a:ext cx="5238750" cy="4429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0E370-98C3-4843-9426-18B44DF2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197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9.9. 단일 저측 드라이버와 2단 고측 드라이버 모두 전류와 열 계산이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362860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FC03F-203A-4F7E-ADC1-7AA81508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21B8E-6E8C-4FB3-9576-A687FFC2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5D545-8175-45EC-8F01-4570BA8E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0D1A9-9F10-46F6-9C37-81CA8976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MOSFET은 낮은 도통 저항과 작은 구동 전류로 더 큰 부하를 효율적으로 스위칭한다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57DED-1EB0-4891-9B10-A5C9AB1C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429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로직 레벨에서 지정된 RDS(on)을 확인해야 완전히 켜지는지 판단할 수 있다.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게이트의 지속 전류는 작지만 충방전 전류와 스위칭 속도는 고려해야 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VGS 최대 정격은 보통 약 20 V이므로 제너 다이오드 등으로 제한한다.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데이터시트의 최대 드레인 전류는 이상적인 냉각 조건일 수 있다.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ESD와 과도전압에 민감하므로 게이트 보호와 PCB 배치를 함께 설계한다.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ABB60-9CD1-42DA-8532-501BD30D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42950"/>
            <a:ext cx="5476875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EC2F7-B3AB-4D57-9A1A-4D5C7A37CB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948deb7634189"/>
          <a:srcRect xmlns:a="http://schemas.openxmlformats.org/drawingml/2006/main" l="7000" t="6000" r="7000" b="11000"/>
          <a:stretch xmlns:a="http://schemas.openxmlformats.org/drawingml/2006/main"/>
        </p:blipFill>
        <p:spPr>
          <a:xfrm xmlns:a="http://schemas.openxmlformats.org/drawingml/2006/main">
            <a:off x="5762625" y="885825"/>
            <a:ext cx="5191125" cy="4524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2ED06-7760-43D7-9011-27F7C623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667375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Table 9.2와 Figure 9.11. 게이트 클램프는 30 V 전원에서도 MOSFET의 VGS 정격을 지킨다.</a:t>
            </a:r>
          </a:p>
        </p:txBody>
      </p:sp>
    </p:spTree>
    <p:extLst>
      <p:ext uri="{BB962C8B-B14F-4D97-AF65-F5344CB8AC3E}">
        <p14:creationId xmlns:p14="http://schemas.microsoft.com/office/powerpoint/2010/main" val="4748880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43B87-EBCB-4614-94B2-64948745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30A8E-618C-4B74-9C78-FAF001E2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74782-5086-40ED-9AE0-F96200FC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7E725-2943-45C7-A7AC-A168F179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릴레이와 솔레노이드의 자기 에너지는 전원을 끈 뒤에도 전류를 계속 흐르게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F33DB-83A7-4503-91DD-59F07018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33387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DC 코일은 플라이백 다이오드로 역기전력을 제한한다.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AC 부하는 단방향 다이오드를 사용할 수 없어 RC 스너버로 에너지를 소모한다.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스너버는 접점 아크와 EMI를 줄이지만 OFF 상태의 누설전류를 만든다.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누설전류가 접촉기의 유지전류보다 크면 장치가 완전히 꺼지지 않을 수 있다.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스너버 위치는 부하 배선 길이와 방사 잡음 경로를 고려해 결정한다.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1A764-CF6A-4219-AE49-6BFF7B35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66750"/>
            <a:ext cx="566737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F909F-BFE5-4CC4-8C02-802D8467A9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50297bcde4245"/>
          <a:srcRect xmlns:a="http://schemas.openxmlformats.org/drawingml/2006/main" l="3000" t="4000" r="3000" b="38000"/>
          <a:stretch xmlns:a="http://schemas.openxmlformats.org/drawingml/2006/main"/>
        </p:blipFill>
        <p:spPr>
          <a:xfrm xmlns:a="http://schemas.openxmlformats.org/drawingml/2006/main">
            <a:off x="5619750" y="809625"/>
            <a:ext cx="5381625" cy="4619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EA038-D798-4BF0-A478-19998221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6769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9.12. DC 측 플라이백 다이오드와 AC 측 스너버가 저장된 자기 에너지를 관리한다.</a:t>
            </a:r>
          </a:p>
        </p:txBody>
      </p:sp>
    </p:spTree>
    <p:extLst>
      <p:ext uri="{BB962C8B-B14F-4D97-AF65-F5344CB8AC3E}">
        <p14:creationId xmlns:p14="http://schemas.microsoft.com/office/powerpoint/2010/main" val="18631114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A4054-FD66-4C2C-80BB-883784B6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C53C7-E33B-4A43-859B-D0C91E05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86A04-B423-4C1B-BF58-587CCCB5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E8489-BA6C-4A5D-8CD7-D7008EF9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기계식 릴레이와 SSR은 절연 방식은 비슷해도 열과 누설 특성이 다르다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9A97B-02A7-4018-A1CD-F43951AD64E0}"/>
              </a:ext>
            </a:extLst>
          </p:cNvPr>
          <p:cNvGraphicFramePr/>
          <p:nvPr/>
        </p:nvGraphicFramePr>
        <p:xfrm>
          <a:off xmlns:a="http://schemas.openxmlformats.org/drawingml/2006/main" x="952500" y="1238250"/>
          <a:ext xmlns:a="http://schemas.openxmlformats.org/drawingml/2006/main" cx="10096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65500"/>
                <a:gridCol w="3365500"/>
                <a:gridCol w="3365500"/>
              </a:tblGrid>
              <a:tr h="57150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기계식 릴레이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SSR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스위치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금속 접점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BJT, MOSFET, SCR 또는 TRIAC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수명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접점 마모와 아크의 영향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움직이는 부품이 없어 장수명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OFF 누설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매우 작음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반도체 특성상 존재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발열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접점저항에 따른 I²R 손실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도통 전압강하와 온도 디레이팅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구동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코일 전류와 플라이백 처리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입력 LED에 수 mA에서 수십 mA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선택 기준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낮은 접점저항과 완전 차단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빠른 동작과 높은 반복 수명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1EBEE-AD0B-4FA2-9023-61303EF9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SSR도 유도성 부하를 끄면 역기전력이 발생하므로 부하 측 스너버나 플라이백 경로가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6448980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0780F-0F1A-434E-8A14-0377ECC2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44307-1AAD-4155-BD7A-E37B5C59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E2468-933B-4B77-A381-925D89C6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94D33-3294-4747-9A05-F477C370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FPGA와 CPLD는 단순 핀 확장보다 고속 데이터 경로에서 가장 큰 효과를 낸다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9F1FA-7020-4CA0-9335-405C9AC5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095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첫 FPGA는 Bayer 패턴의 센서 데이터를 RGB 픽셀로 변환한다.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두 번째 FPGA는 스케일링과 색 보정 같은 실시간 영상 처리를 수행한다.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CPLD는 프레임 캡처와 고속 SRAM 인터페이스를 제어한다.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CPU는 영상 스트림 대신 설정값과 캡처된 프레임을 처리한다.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FE867-B780-4344-8ACC-4D8874AA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14375"/>
            <a:ext cx="59531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9810F-1D5C-4B26-821C-6877EC588B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80ef2ea6e4dcb"/>
          <a:srcRect xmlns:a="http://schemas.openxmlformats.org/drawingml/2006/main" l="3000" t="4000" r="3000" b="40000"/>
          <a:stretch xmlns:a="http://schemas.openxmlformats.org/drawingml/2006/main"/>
        </p:blipFill>
        <p:spPr>
          <a:xfrm xmlns:a="http://schemas.openxmlformats.org/drawingml/2006/main">
            <a:off x="5286375" y="857250"/>
            <a:ext cx="5667375" cy="4619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EA2C5-5A69-48F3-952A-C04ABF82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715000"/>
            <a:ext cx="585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9.14. 실시간 영상 데이터는 FPGA가 처리하고 CPU는 설정과 네트워크 기능을 담당한다.</a:t>
            </a:r>
          </a:p>
        </p:txBody>
      </p:sp>
    </p:spTree>
    <p:extLst>
      <p:ext uri="{BB962C8B-B14F-4D97-AF65-F5344CB8AC3E}">
        <p14:creationId xmlns:p14="http://schemas.microsoft.com/office/powerpoint/2010/main" val="7785296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3A89D-0E7D-49D4-8EFF-AFA630E5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4CB87-4E25-41CA-957C-3467A090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9FAE6-D735-4F12-B0EB-A720373E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D8334-46C3-4680-A702-F4E3938D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ADC 평가는 변환기보다 센서부터 전원·배선까지 포함한 전체 DAQ 채널을 대상으로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BFBB8-6E0E-4CD4-B1F1-639843B3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Delta-Sigma는 느리지만 고분해능 측정에 적합하다.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Flash ADC는 매우 빠르며 영상과 통신 신호에 사용한다.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SAR ADC는 속도, 분해능과 가격의 균형이 좋아 임베디드 시스템에서 널리 사용한다.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실험은 2.5 V 정밀 기준을 32,768회 샘플링한 뒤 직렬 포트로 Linux PC에 전송한다.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샘플링을 먼저 끝낸 뒤 전송해 직렬 통신 잡음이 ADC에 결합되는 가능성을 줄인다.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66F48-EEEA-4D25-8638-2C8C7E03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095375"/>
            <a:ext cx="5048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0B405-DB69-4A82-AD6E-55BBFF326B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14aec581241d1"/>
          <a:srcRect xmlns:a="http://schemas.openxmlformats.org/drawingml/2006/main" l="10000" t="4000" r="10000" b="64000"/>
          <a:stretch xmlns:a="http://schemas.openxmlformats.org/drawingml/2006/main"/>
        </p:blipFill>
        <p:spPr>
          <a:xfrm xmlns:a="http://schemas.openxmlformats.org/drawingml/2006/main">
            <a:off x="6048375" y="1238250"/>
            <a:ext cx="4762500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44FC8-0572-402E-8EC6-7AE14180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29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9.15. 정밀 기준전압, RCM3400과 Linux 분석 PC로 DAQ 채널을 측정한다.</a:t>
            </a:r>
          </a:p>
        </p:txBody>
      </p:sp>
    </p:spTree>
    <p:extLst>
      <p:ext uri="{BB962C8B-B14F-4D97-AF65-F5344CB8AC3E}">
        <p14:creationId xmlns:p14="http://schemas.microsoft.com/office/powerpoint/2010/main" val="21168175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1038B-7F6A-4EB1-B235-E0613D20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92E3A-0E1B-442F-B886-4F9563A3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9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12A48-5A81-4636-BDAC-84461699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F2434-3697-4DA5-952C-8EA50F87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평균, 표준편차와 히스토그램을 함께 보면 오프셋과 잡음의 크기·형태를 구분할 수 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8B40D-5FC2-472E-B42B-B98ED40E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61962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평균과 이상적인 ADC 코드를 비교해 오프셋을 계산한다.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표준편차는 RMS 잡음의 크기를 ADC 코드 또는 전압으로 나타낸다.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여러 봉우리가 보이면 무작위 잡음보다 외부 결합 신호를 의심한다.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실험 결과 gain 1, 2, 4, 5에서 유효 분해능은 11비트 수준이었다.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gain 5의 최악 피크투피크 조건에서 noise-free resolution은 약 9.84비트였다.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0C05B-2A90-43BF-B4C5-086B911B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81050"/>
            <a:ext cx="51911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345C2-9D4C-451E-9A05-317B743EBF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d3da890ed4a7e"/>
          <a:srcRect xmlns:a="http://schemas.openxmlformats.org/drawingml/2006/main" l="13000" t="4000" r="13000" b="54000"/>
          <a:stretch xmlns:a="http://schemas.openxmlformats.org/drawingml/2006/main"/>
        </p:blipFill>
        <p:spPr>
          <a:xfrm xmlns:a="http://schemas.openxmlformats.org/drawingml/2006/main">
            <a:off x="5953125" y="923925"/>
            <a:ext cx="4905375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27C74-CD4C-4DE2-AB5F-1EBE24B8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9530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9.16. 데이터가 두세 개 코드에 집중되어 채널 잡음이 매우 작음을 보여준다.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4B42F-2DBA-49E6-8756-EA132590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768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측정하지 않은 DAQ 채널과 실제 센서 조건에서도 같은 절차를 반복해야 한다.</a:t>
            </a:r>
          </a:p>
        </p:txBody>
      </p:sp>
    </p:spTree>
    <p:extLst>
      <p:ext uri="{BB962C8B-B14F-4D97-AF65-F5344CB8AC3E}">
        <p14:creationId xmlns:p14="http://schemas.microsoft.com/office/powerpoint/2010/main" val="891917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2026-10-07T21:13:30.4560000Z</dcterms:created>
  <dcterms:modified xsi:type="dcterms:W3CDTF">2026-10-07T21:13:30.4560000Z</dcterms:modified>
</coreProperties>
</file>